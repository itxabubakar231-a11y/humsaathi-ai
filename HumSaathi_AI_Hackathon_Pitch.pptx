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CINEMATIC HERO (HumSaathi AI)</a:t>
            </a:r>
          </a:p>
          <a:p>
            <a:r>
              <a:t>TIME: 25 Seconds</a:t>
            </a:r>
          </a:p>
          <a:p/>
          <a:p>
            <a:r>
              <a:t>TALKING POINTS:</a:t>
            </a:r>
          </a:p>
          <a:p>
            <a:r>
              <a:t>"Good morning, judges. Over 1 billion people worldwide navigate speech, language, and neurodiverse learning challenges. Yet modern education still treats learning as a one-way street.</a:t>
            </a:r>
          </a:p>
          <a:p>
            <a:r>
              <a:t>This is HumSaathi AI — 'Our Companion'. An adaptive platform designed to bridge the gap between knowing words and communicating with real-world confidence across the human lifespan: Child, Teen, and Adult."</a:t>
            </a:r>
          </a:p>
          <a:p/>
          <a:p>
            <a:r>
              <a:t>KEY JUDGE TAKEAWAY: Immediate emotional hook, serious AI product demeanor, clear lifespan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THE PROBLEM (Learning Is Not One-Size-Fits-All)</a:t>
            </a:r>
          </a:p>
          <a:p>
            <a:r>
              <a:t>TIME: 30 Seconds</a:t>
            </a:r>
          </a:p>
          <a:p/>
          <a:p>
            <a:r>
              <a:t>TALKING POINTS:</a:t>
            </a:r>
          </a:p>
          <a:p>
            <a:r>
              <a:t>"Why does communication learning break down for neurodiverse individuals? Four key failures:</a:t>
            </a:r>
          </a:p>
          <a:p>
            <a:r>
              <a:t>Static content that treats everyone identically.</a:t>
            </a:r>
          </a:p>
          <a:p>
            <a:r>
              <a:t>A gaping practice gap between knowing words and speaking them.</a:t>
            </a:r>
          </a:p>
          <a:p>
            <a:r>
              <a:t>A feedback void where right/wrong checkmarks teach zero conversational nuance.</a:t>
            </a:r>
          </a:p>
          <a:p>
            <a:r>
              <a:t>And communication anxiety that shuts down real-world independence.</a:t>
            </a:r>
          </a:p>
          <a:p>
            <a:r>
              <a:t>We set out to replace this broken model."</a:t>
            </a:r>
          </a:p>
          <a:p/>
          <a:p>
            <a:r>
              <a:t>KEY JUDGE TAKEAWAY: The problem is communication confidence and sensory adaptation, not simple literacy.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BIG IDEA (Meet HumSaathi AI)</a:t>
            </a:r>
          </a:p>
          <a:p>
            <a:r>
              <a:t>TIME: 30 Seconds</a:t>
            </a:r>
          </a:p>
          <a:p/>
          <a:p>
            <a:r>
              <a:t>TALKING POINTS:</a:t>
            </a:r>
          </a:p>
          <a:p>
            <a:r>
              <a:t>"HumSaathi AI does not simply query a large language model and hope for the best.</a:t>
            </a:r>
          </a:p>
          <a:p>
            <a:r>
              <a:t>It is a centralized Context &amp; Persona Engine. It ingests the learner's developmental stage, sensory preferences, and chosen scenario — whether it's navigating peer conflict or interviewing for a job.</a:t>
            </a:r>
          </a:p>
          <a:p>
            <a:r>
              <a:t>It then generates an adaptive, judgment-free learning experience with real-time conversational calibration."</a:t>
            </a:r>
          </a:p>
          <a:p/>
          <a:p>
            <a:r>
              <a:t>KEY JUDGE TAKEAWAY: HumSaathi is a full context-aware coaching engine, not a shallow OpenAI wrapper.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THREE EXPERIENCES (Same Intelligence. Different Experience.)</a:t>
            </a:r>
          </a:p>
          <a:p>
            <a:r>
              <a:t>TIME: 30 Seconds</a:t>
            </a:r>
          </a:p>
          <a:p/>
          <a:p>
            <a:r>
              <a:t>TALKING POINTS:</a:t>
            </a:r>
          </a:p>
          <a:p>
            <a:r>
              <a:t>"Here you see our actual, live platform adapting across life stages.</a:t>
            </a:r>
          </a:p>
          <a:p>
            <a:r>
              <a:t>For children: calm, sensory-safe exploration.</a:t>
            </a:r>
          </a:p>
          <a:p>
            <a:r>
              <a:t>For teens: peer dynamics, social challenges, and vocabulary.</a:t>
            </a:r>
          </a:p>
          <a:p>
            <a:r>
              <a:t>For adults: workplace meetings, job interviews, banking, and transit autonomy.</a:t>
            </a:r>
          </a:p>
          <a:p>
            <a:r>
              <a:t>One unified architecture; three deeply respectful, age-tailored user interfaces."</a:t>
            </a:r>
          </a:p>
          <a:p/>
          <a:p>
            <a:r>
              <a:t>KEY JUDGE TAKEAWAY: The platform solves the entire lifespan, preventing users from aging out of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CHILD EXPERIENCE (Calm, Structured Exploration)</a:t>
            </a:r>
          </a:p>
          <a:p>
            <a:r>
              <a:t>TIME: 25 Seconds</a:t>
            </a:r>
          </a:p>
          <a:p/>
          <a:p>
            <a:r>
              <a:t>TALKING POINTS:</a:t>
            </a:r>
          </a:p>
          <a:p>
            <a:r>
              <a:t>"Look at the actual Child Portal screen on the left.</a:t>
            </a:r>
          </a:p>
          <a:p>
            <a:r>
              <a:t>Notice the intentional whitespace and calm color system. Neurodiverse children easily experience sensory overload. We implemented 7 foundational categories: Letters, Numbers, Shapes, Colors, Animals, Emotions, and Daily Routines.</a:t>
            </a:r>
          </a:p>
          <a:p>
            <a:r>
              <a:t>Every interaction is predictable, bilingual, and positive."</a:t>
            </a:r>
          </a:p>
          <a:p/>
          <a:p>
            <a:r>
              <a:t>KEY JUDGE TAKEAWAY: Designed strictly with occupational therapy ergonomics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TEEN + ADULT (Social Dynamics &amp; Career Autonomy)</a:t>
            </a:r>
          </a:p>
          <a:p>
            <a:r>
              <a:t>TIME: 35 Seconds</a:t>
            </a:r>
          </a:p>
          <a:p/>
          <a:p>
            <a:r>
              <a:t>TALKING POINTS:</a:t>
            </a:r>
          </a:p>
          <a:p>
            <a:r>
              <a:t>"Here is our side-by-side progression.</a:t>
            </a:r>
          </a:p>
          <a:p>
            <a:r>
              <a:t>On the left, the Teen Portal addresses social nuance: resolving group project disagreements, reading context clues, and building daily habits with genuine streak metrics.</a:t>
            </a:r>
          </a:p>
          <a:p>
            <a:r>
              <a:t>On the right, the Adult Portal transforms into a sleek, professional career hub. Adults prepare for job interviews, clarify ambiguous emails, and practice high-stress autonomy tasks like resolving bank debit card issues. Real tools for real independence."</a:t>
            </a:r>
          </a:p>
          <a:p/>
          <a:p>
            <a:r>
              <a:t>KEY JUDGE TAKEAWAY: Age-appropriate respect and dignity built into every pixel.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AI COMMUNICATION COACH (Practices With You)</a:t>
            </a:r>
          </a:p>
          <a:p>
            <a:r>
              <a:t>TIME: 45 Seconds</a:t>
            </a:r>
          </a:p>
          <a:p/>
          <a:p>
            <a:r>
              <a:t>TALKING POINTS:</a:t>
            </a:r>
          </a:p>
          <a:p>
            <a:r>
              <a:t>"This is our core breakthrough.</a:t>
            </a:r>
          </a:p>
          <a:p>
            <a:r>
              <a:t>Generic chatbots write essays for you. HumSaathi AI roleplays *with* you.</a:t>
            </a:r>
          </a:p>
          <a:p>
            <a:r>
              <a:t>When a user says: 'I noticed the slides were distributed unevenly,' the AI acts as the teammate or manager, responding in character.</a:t>
            </a:r>
          </a:p>
          <a:p>
            <a:r>
              <a:t>At the end of the exchange, our engine scores Clarity, Relevance, and Confidence. And look at the bottom right: it models a 'Suggested Alternative Response' — showing the learner exactly how to rephrase their thought more constructively. That is real communication coaching."</a:t>
            </a:r>
          </a:p>
          <a:p/>
          <a:p>
            <a:r>
              <a:t>KEY JUDGE TAKEAWAY: Turn-by-turn simulation + structured evaluation + alternative phrasing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PRODUCTION AI ARCHITECTURE (How The AI Works)</a:t>
            </a:r>
          </a:p>
          <a:p>
            <a:r>
              <a:t>TIME: 40 Seconds</a:t>
            </a:r>
          </a:p>
          <a:p/>
          <a:p>
            <a:r>
              <a:t>TALKING POINTS:</a:t>
            </a:r>
          </a:p>
          <a:p>
            <a:r>
              <a:t>"For our technical judges: how does HumSaathi actually work?</a:t>
            </a:r>
          </a:p>
          <a:p>
            <a:r>
              <a:t>From the React client, requests pass through our FastAPI ASGI gateway. Before calling any LLM, our Context and Persona Engine in context_builder.py resolves pronouns like 'what next?' or 'how so?', grounding the conversation to prevent topic drift.</a:t>
            </a:r>
          </a:p>
          <a:p>
            <a:r>
              <a:t>We prompt Gemini 2.0 or OpenAI under strict temperature calibration. If an API rate limit or outage occurs, our deterministic rules engine steps in automatically with zero downtime."</a:t>
            </a:r>
          </a:p>
          <a:p/>
          <a:p>
            <a:r>
              <a:t>KEY JUDGE TAKEAWAY: Proof of architectural sophistication, multi-turn statefulness, and production resilience.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ADAPTIVE LEARNING LOOP</a:t>
            </a:r>
          </a:p>
          <a:p>
            <a:r>
              <a:t>TIME: 25 Seconds</a:t>
            </a:r>
          </a:p>
          <a:p/>
          <a:p>
            <a:r>
              <a:t>TALKING POINTS:</a:t>
            </a:r>
          </a:p>
          <a:p>
            <a:r>
              <a:t>"The core intelligence of HumSaathi is continuous calibration.</a:t>
            </a:r>
          </a:p>
          <a:p>
            <a:r>
              <a:t>Assess, Practice, Observe, Evaluate, Adapt, and Recommend.</a:t>
            </a:r>
          </a:p>
          <a:p>
            <a:r>
              <a:t>When an adult learner struggles with expressing a disagreement constructively, the engine detects hesitation and adapts: it lowers the difficulty tier and recommends an intermediate roleplay on active listening. The system grows with the learner."</a:t>
            </a:r>
          </a:p>
          <a:p/>
          <a:p>
            <a:r>
              <a:t>KEY JUDGE TAKEAWAY: Demonstrates the recommendation algorithm and personalized adaptation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— VOICE + LANGUAGE (Speak. Listen. Practice.)</a:t>
            </a:r>
          </a:p>
          <a:p>
            <a:r>
              <a:t>TIME: 25 Seconds</a:t>
            </a:r>
          </a:p>
          <a:p/>
          <a:p>
            <a:r>
              <a:t>TALKING POINTS:</a:t>
            </a:r>
          </a:p>
          <a:p>
            <a:r>
              <a:t>"Real communication is spoken. Using the browser's Web Speech API, learners practice phone calls and face-to-face dialogue.</a:t>
            </a:r>
          </a:p>
          <a:p>
            <a:r>
              <a:t>And we are natively trilingual: English, native Urdu with full RTL typography, and Roman Urdu. By supporting Roman Urdu, we break down the literacy barrier for hundreds of millions in South Asia and global diasporas."</a:t>
            </a:r>
          </a:p>
          <a:p/>
          <a:p>
            <a:r>
              <a:t>KEY JUDGE TAKEAWAY: True multimodal speech recognition + cultural localization.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— PARENT COMPANION (Understand Progress — Not Control It)</a:t>
            </a:r>
          </a:p>
          <a:p>
            <a:r>
              <a:t>TIME: 30 Seconds</a:t>
            </a:r>
          </a:p>
          <a:p/>
          <a:p>
            <a:r>
              <a:t>TALKING POINTS:</a:t>
            </a:r>
          </a:p>
          <a:p>
            <a:r>
              <a:t>"Look at the actual Parent Portal screen.</a:t>
            </a:r>
          </a:p>
          <a:p>
            <a:r>
              <a:t>Instead of leaving parents wondering how their child is doing, we track four core communication dimensions: Greeting, Answering, Asking, and Confidence.</a:t>
            </a:r>
          </a:p>
          <a:p>
            <a:r>
              <a:t>And we respect learner dignity: parents do not read private chat transcripts. Our AI synthesizes home guidance, like 'Encourage Zayd to order dinner tonight to reinforce his progress in asking questions.' Protected behind a 4-digit PIN."</a:t>
            </a:r>
          </a:p>
          <a:p/>
          <a:p>
            <a:r>
              <a:t>KEY JUDGE TAKEAWAY: Actionable caregiver insights without invasive surveillance.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— ENGINEERING / TECHNOLOGY</a:t>
            </a:r>
          </a:p>
          <a:p>
            <a:r>
              <a:t>TIME: 25 Seconds</a:t>
            </a:r>
          </a:p>
          <a:p/>
          <a:p>
            <a:r>
              <a:t>TALKING POINTS:</a:t>
            </a:r>
          </a:p>
          <a:p>
            <a:r>
              <a:t>"Here is our actual production stack.</a:t>
            </a:r>
          </a:p>
          <a:p>
            <a:r>
              <a:t>React 18 and Vite for instant load times.</a:t>
            </a:r>
          </a:p>
          <a:p>
            <a:r>
              <a:t>Python 3.11 with FastAPI for serverless ASGI performance.</a:t>
            </a:r>
          </a:p>
          <a:p>
            <a:r>
              <a:t>Google Gemini 2.0 paired with our deterministic offline fallback engine.</a:t>
            </a:r>
          </a:p>
          <a:p>
            <a:r>
              <a:t>Everything is version-controlled and deployed live on Vercel's edge network right now."</a:t>
            </a:r>
          </a:p>
          <a:p/>
          <a:p>
            <a:r>
              <a:t>KEY JUDGE TAKEAWAY: Modern, production-ready, clean engineering.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SECURITY (Privacy Built Into the Architecture)</a:t>
            </a:r>
          </a:p>
          <a:p>
            <a:r>
              <a:t>TIME: 25 Seconds</a:t>
            </a:r>
          </a:p>
          <a:p/>
          <a:p>
            <a:r>
              <a:t>TALKING POINTS:</a:t>
            </a:r>
          </a:p>
          <a:p>
            <a:r>
              <a:t>"When dealing with neurodiverse and younger learners, security is non-negotiable.</a:t>
            </a:r>
          </a:p>
          <a:p>
            <a:r>
              <a:t>We enforce database-level persona data isolation — child records and adult workplace scenarios cannot cross-contaminate.</a:t>
            </a:r>
          </a:p>
          <a:p>
            <a:r>
              <a:t>Parent access is protected by an encrypted PIN, and our admin panel provides full audit logging and AI monitoring."</a:t>
            </a:r>
          </a:p>
          <a:p/>
          <a:p>
            <a:r>
              <a:t>KEY JUDGE TAKEAWAY: Enterprise-grade compliance and ethical AI safeguards.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— WHY HUMSAATHI? (The Value Proposition)</a:t>
            </a:r>
          </a:p>
          <a:p>
            <a:r>
              <a:t>TIME: 30 Seconds</a:t>
            </a:r>
          </a:p>
          <a:p/>
          <a:p>
            <a:r>
              <a:t>TALKING POINTS:</a:t>
            </a:r>
          </a:p>
          <a:p>
            <a:r>
              <a:t>"Judges often ask: 'Why not just use ChatGPT?'</a:t>
            </a:r>
          </a:p>
          <a:p>
            <a:r>
              <a:t>Here is the answer: an open text box is paralyzing for a neurodiverse learner.</a:t>
            </a:r>
          </a:p>
          <a:p>
            <a:r>
              <a:t>HumSaathi provides scaffolded structure. It evaluates Clarity and Confidence. It offers direct alternative phrasing. And it adapts to the learner's developmental stage.</a:t>
            </a:r>
          </a:p>
          <a:p>
            <a:r>
              <a:t>It is a specialized communication health intervention, not a text toy."</a:t>
            </a:r>
          </a:p>
          <a:p/>
          <a:p>
            <a:r>
              <a:t>KEY JUDGE TAKEAWAY: Clear competitive moat established.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— CINEMATIC ENDING (Learn. Communicate. Grow.)</a:t>
            </a:r>
          </a:p>
          <a:p>
            <a:r>
              <a:t>TIME: 25 Seconds</a:t>
            </a:r>
          </a:p>
          <a:p/>
          <a:p>
            <a:r>
              <a:t>TALKING POINTS:</a:t>
            </a:r>
          </a:p>
          <a:p>
            <a:r>
              <a:t>"To conclude:</a:t>
            </a:r>
          </a:p>
          <a:p>
            <a:r>
              <a:t>Learning is personal.</a:t>
            </a:r>
          </a:p>
          <a:p>
            <a:r>
              <a:t>Communication is practice.</a:t>
            </a:r>
          </a:p>
          <a:p>
            <a:r>
              <a:t>Growth is continuous.</a:t>
            </a:r>
          </a:p>
          <a:p/>
          <a:p>
            <a:r>
              <a:t>HumSaathi AI doesn't just teach users what to learn — it helps them learn how to communicate, practice, and grow.</a:t>
            </a:r>
          </a:p>
          <a:p>
            <a:r>
              <a:t>The platform is deployed live at hum-saathi-ai.vercel.app. We invite you to experience it, and we welcome your questions!"</a:t>
            </a:r>
          </a:p>
          <a:p/>
          <a:p>
            <a:r>
              <a:t>KEY JUDGE TAKEAWAY: A cinematic, confident, and unforgettable finish.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1371600"/>
            <a:ext cx="8534095" cy="4114800"/>
          </a:xfrm>
          <a:prstGeom prst="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msaathi-log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590" y="1828800"/>
            <a:ext cx="1371600" cy="535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315468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Segoe UI Semibold"/>
              </a:defRPr>
            </a:pPr>
            <a:r>
              <a:t>HUMSAATHI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B6D4"/>
                </a:solidFill>
                <a:latin typeface="Segoe UI"/>
              </a:defRPr>
            </a:pPr>
            <a:r>
              <a:t>Learn. Communicate.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94A3B8"/>
                </a:solidFill>
                <a:latin typeface="Segoe UI"/>
              </a:defRPr>
            </a:pPr>
            <a:r>
              <a:t>The Adaptive AI Communication &amp; Learning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CHILD  ·  TEEN  ·  ADULT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01 / 15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64748B"/>
                </a:solidFill>
                <a:latin typeface="Segoe UI Semibold"/>
              </a:defRPr>
            </a:pPr>
            <a:r>
              <a:t>LEARNING IS</a:t>
            </a:r>
          </a:p>
          <a:p>
            <a:pPr>
              <a:defRPr sz="4800" b="1">
                <a:solidFill>
                  <a:srgbClr val="F43F5E"/>
                </a:solidFill>
                <a:latin typeface="Segoe UI Semibold"/>
              </a:defRPr>
            </a:pPr>
            <a:r>
              <a:t>NOT ONE-SIZE-FITS-ALL.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91840"/>
            <a:ext cx="10728655" cy="18288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2514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 Semibold"/>
              </a:defRPr>
            </a:pPr>
            <a:r>
              <a:t>STATIC CONTENT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Traditional apps force every learner through identical linear lessons, ignoring sensory sensitivities and processing pace.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3566160"/>
            <a:ext cx="2514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 Semibold"/>
              </a:defRPr>
            </a:pPr>
            <a:r>
              <a:t>PRACTICE GAP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Learners can memorize vocabulary in isolation, but have zero safe, judgment-free space to practice spoken dialogue.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1344" y="3566160"/>
            <a:ext cx="2514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 Semibold"/>
              </a:defRPr>
            </a:pPr>
            <a:r>
              <a:t>FEEDBACK VOID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Standard educational software returns binary pass/fail checks, offering no coaching on tone, social nuance, or clarity.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06256" y="3566160"/>
            <a:ext cx="2514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 Semibold"/>
              </a:defRPr>
            </a:pPr>
            <a:r>
              <a:t>COMMUNICATION ANXIETY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Facing unpredictable social and workplace interactions without simulation causes withdrawal and cognitive fatigue.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02 / 15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THE CENTRAL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Meet HumSaathi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6590" y="2011680"/>
            <a:ext cx="3657600" cy="3840480"/>
          </a:xfrm>
          <a:prstGeom prst="roundRect">
            <a:avLst/>
          </a:prstGeom>
          <a:solidFill>
            <a:srgbClr val="10182C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9470" y="228600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6B6D4"/>
                </a:solidFill>
                <a:latin typeface="Segoe UI Semibold"/>
              </a:defRPr>
            </a:pPr>
            <a:r>
              <a:t>HUMSAATHI AI</a:t>
            </a:r>
          </a:p>
          <a:p>
            <a:pPr algn="ctr">
              <a:spcBef>
                <a:spcPts val="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Adaptive Context Engine</a:t>
            </a:r>
          </a:p>
          <a:p>
            <a:pPr>
              <a:spcBef>
                <a:spcPts val="1400"/>
              </a:spcBef>
              <a:defRPr sz="1050">
                <a:solidFill>
                  <a:srgbClr val="E2E8F0"/>
                </a:solidFill>
                <a:latin typeface="Segoe UI"/>
              </a:defRPr>
            </a:pPr>
            <a:r>
              <a:t>Rather than an unguided chatbot, HumSaathi acts as an intelligent mediator. It ingests multi-dimensional contextual signals to dynamically calibrate dialogue pacing, cognitive challenge, and therapeutic reinforcement.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 Semibold"/>
              </a:defRPr>
            </a:pPr>
            <a:r>
              <a:t>→  LEARNER PROFILE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Baseline sensory &amp; diagnostic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366F1"/>
                </a:solidFill>
                <a:latin typeface="Segoe UI Semibold"/>
              </a:defRPr>
            </a:pPr>
            <a:r>
              <a:t>→  PERSONA CONTEXT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Child · Teen · Adult life constraints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Segoe UI Semibold"/>
              </a:defRPr>
            </a:pPr>
            <a:r>
              <a:t>→  SCENARIO &amp; ROLE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27 realistic social/workplace contexts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01168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4B8A6"/>
                </a:solidFill>
                <a:latin typeface="Segoe UI Semibold"/>
              </a:defRPr>
            </a:pPr>
            <a:r>
              <a:t>ADAPTIVE PACING  →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Low-sensory calibration matching cognitive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2004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Segoe UI Semibold"/>
              </a:defRPr>
            </a:pPr>
            <a:r>
              <a:t>DYNAMIC ROLEPLAY  →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Empathetic, realistic conversational simulation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8912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 Semibold"/>
              </a:defRPr>
            </a:pPr>
            <a:r>
              <a:t>OBJECTIVE SCORING  →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Continuous evaluation: Clarity, Relevance, Confidence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03 / 15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LIFESPAN ADAPTABILITY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Same Intelligence. Different Experience.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383280" cy="2852928"/>
          </a:xfrm>
          <a:prstGeom prst="round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210312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2416" y="210312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210312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66544"/>
            <a:ext cx="19202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  <a:latin typeface="Segoe UI"/>
              </a:defRPr>
            </a:pPr>
            <a:r>
              <a:t>https://humsaathi.ai/child</a:t>
            </a:r>
          </a:p>
        </p:txBody>
      </p:sp>
      <p:pic>
        <p:nvPicPr>
          <p:cNvPr id="10" name="Picture 9" descr="child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304288"/>
            <a:ext cx="3346704" cy="2560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493776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 Semibold"/>
              </a:defRPr>
            </a:pPr>
            <a:r>
              <a:t>CHILD EXPERIENCE  [Ages 4–11]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Visual learning, high predictability, phonics, numbers, emotions, and zero-anxiety routines.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383280" cy="2852928"/>
          </a:xfrm>
          <a:prstGeom prst="round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53712" y="210312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0016" y="210312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46320" y="210312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066544"/>
            <a:ext cx="19202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  <a:latin typeface="Segoe UI"/>
              </a:defRPr>
            </a:pPr>
            <a:r>
              <a:t>https://humsaathi.ai/teen</a:t>
            </a:r>
          </a:p>
        </p:txBody>
      </p:sp>
      <p:pic>
        <p:nvPicPr>
          <p:cNvPr id="17" name="Picture 16" descr="teen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304288"/>
            <a:ext cx="3346704" cy="2560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89120" y="493776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366F1"/>
                </a:solidFill>
                <a:latin typeface="Segoe UI Semibold"/>
              </a:defRPr>
            </a:pPr>
            <a:r>
              <a:t>TEEN EXPERIENCE  [Ages 12–17]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Social dynamics, peer disputes, daily communication challenges, and authentic streak metrics.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011680"/>
            <a:ext cx="3383280" cy="2852928"/>
          </a:xfrm>
          <a:prstGeom prst="round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1312" y="210312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57616" y="210312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03920" y="210312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0" y="2066544"/>
            <a:ext cx="19202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  <a:latin typeface="Segoe UI"/>
              </a:defRPr>
            </a:pPr>
            <a:r>
              <a:t>https://humsaathi.ai/adult</a:t>
            </a:r>
          </a:p>
        </p:txBody>
      </p:sp>
      <p:pic>
        <p:nvPicPr>
          <p:cNvPr id="24" name="Picture 23" descr="adult_port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2304288"/>
            <a:ext cx="3346704" cy="2560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46720" y="493776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Segoe UI Semibold"/>
              </a:defRPr>
            </a:pPr>
            <a:r>
              <a:t>ADULT EXPERIENCE  [Ages 18+]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Career readiness, workplace goal tracking, doctor &amp; bank navigation, and contingency problem-solving.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04 / 15</a:t>
            </a:r>
          </a:p>
        </p:txBody>
      </p:sp>
    </p:spTree>
  </p:cSld>
  <p:clrMapOvr>
    <a:masterClrMapping/>
  </p:clrMapOvr>
  <p:transition xmlns:p16="http://schemas.microsoft.com/office/powerpoint/2015/09/main">
    <p16:morph option="byObjec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EARLY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Child Portal: Calm, Structured Exploration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7315200" cy="4498848"/>
          </a:xfrm>
          <a:prstGeom prst="round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182880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2416" y="182880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182880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792224"/>
            <a:ext cx="58521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  <a:latin typeface="Segoe UI"/>
              </a:defRPr>
            </a:pPr>
            <a:r>
              <a:t>https://humsaathi.ai/child/dashboard</a:t>
            </a:r>
          </a:p>
        </p:txBody>
      </p:sp>
      <p:pic>
        <p:nvPicPr>
          <p:cNvPr id="10" name="Picture 9" descr="child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029968"/>
            <a:ext cx="7278624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12480" y="201168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 Semibold"/>
              </a:defRPr>
            </a:pPr>
            <a:r>
              <a:t>VISUAL LEARNING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High-contrast visual cues with bilingual English &amp; Urdu audio pronunciation for letters, numbers, and animals.</a:t>
            </a:r>
          </a:p>
          <a:p>
            <a:pPr>
              <a:spcBef>
                <a:spcPts val="1600"/>
              </a:spcBef>
              <a:defRPr sz="1300" b="1">
                <a:solidFill>
                  <a:srgbClr val="10B981"/>
                </a:solidFill>
                <a:latin typeface="Segoe UI Semibold"/>
              </a:defRPr>
            </a:pPr>
            <a:r>
              <a:t>LOW SENSORY LOAD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Zero flashing animations, zero countdown clocks, and zero punishing fail buzzers. Pure cognitive safety.</a:t>
            </a:r>
          </a:p>
          <a:p>
            <a:pPr>
              <a:spcBef>
                <a:spcPts val="1600"/>
              </a:spcBef>
              <a:defRPr sz="1300" b="1">
                <a:solidFill>
                  <a:srgbClr val="10B981"/>
                </a:solidFill>
                <a:latin typeface="Segoe UI Semibold"/>
              </a:defRPr>
            </a:pPr>
            <a:r>
              <a:t>PREDICTABLE INTERACTION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Structured daily routines and emotion identification matching occupational therapy standards.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05 / 15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MATURITY PROGRESSION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Teen + Adult: Social Dynamics &amp; Career Autonomy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66360" cy="3584448"/>
          </a:xfrm>
          <a:prstGeom prst="round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182880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2416" y="182880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182880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792224"/>
            <a:ext cx="3703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  <a:latin typeface="Segoe UI"/>
              </a:defRPr>
            </a:pPr>
            <a:r>
              <a:t>https://humsaathi.ai/teen</a:t>
            </a:r>
          </a:p>
        </p:txBody>
      </p:sp>
      <p:pic>
        <p:nvPicPr>
          <p:cNvPr id="10" name="Picture 9" descr="tee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029968"/>
            <a:ext cx="5129784" cy="3291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5303520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  <a:latin typeface="Segoe UI Semibold"/>
              </a:defRPr>
            </a:pPr>
            <a:r>
              <a:t>TEEN: ACADEMIC &amp; PEER DYNAMICS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Features rotating Daily Communication Challenges (asking for help, expressing opinions) with real database-calculated contiguous streaks.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737360"/>
            <a:ext cx="5166360" cy="3584448"/>
          </a:xfrm>
          <a:prstGeom prst="round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55664" y="182880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01968" y="182880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48272" y="182880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22592" y="1792224"/>
            <a:ext cx="3703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  <a:latin typeface="Segoe UI"/>
              </a:defRPr>
            </a:pPr>
            <a:r>
              <a:t>https://humsaathi.ai/adult</a:t>
            </a:r>
          </a:p>
        </p:txBody>
      </p:sp>
      <p:pic>
        <p:nvPicPr>
          <p:cNvPr id="17" name="Picture 16" descr="adult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029968"/>
            <a:ext cx="5129784" cy="3291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91072" y="5303520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 Semibold"/>
              </a:defRPr>
            </a:pPr>
            <a:r>
              <a:t>ADULT: CAREER READINESS &amp; INDEPENDENCE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Workplace Goal tracking ('Complete 2 workplace scenarios'), manager check-ins, job interviews, banking, and transit delay problem-solving.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06 / 15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HERO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AI That Doesn't Just Answer — It Practices With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6217920" cy="4498848"/>
          </a:xfrm>
          <a:prstGeom prst="round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182880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2416" y="182880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182880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792224"/>
            <a:ext cx="47548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  <a:latin typeface="Segoe UI"/>
              </a:defRPr>
            </a:pPr>
            <a:r>
              <a:t>https://humsaathi.ai/conversation/session-live</a:t>
            </a:r>
          </a:p>
        </p:txBody>
      </p:sp>
      <p:pic>
        <p:nvPicPr>
          <p:cNvPr id="10" name="Picture 9" descr="conversatio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029968"/>
            <a:ext cx="6181344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73736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B6D4"/>
                </a:solidFill>
                <a:latin typeface="Segoe UI"/>
              </a:defRPr>
            </a:pPr>
            <a:r>
              <a:t>MULTI-DIMENSIONAL DIAGNOSTIC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 Semibold"/>
              </a:defRPr>
            </a:pPr>
            <a:r>
              <a:t>CLARITY SCORE  —  85%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Vocabulary precision and grammatical coherence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 Semibold"/>
              </a:defRPr>
            </a:pPr>
            <a:r>
              <a:t>RELEVANCE SCORE  —  90%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Directness in addressing situational prompt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 Semibold"/>
              </a:defRPr>
            </a:pPr>
            <a:r>
              <a:t>CONFIDENCE INDEX  —  80%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Conversational flow and reduced hesitation</a:t>
            </a:r>
          </a:p>
          <a:p>
            <a:pPr>
              <a:spcBef>
                <a:spcPts val="1400"/>
              </a:spcBef>
              <a:defRPr sz="1100" b="1">
                <a:solidFill>
                  <a:srgbClr val="10B981"/>
                </a:solidFill>
                <a:latin typeface="Segoe UI Semibold"/>
              </a:defRPr>
            </a:pPr>
            <a:r>
              <a:t>SUGGESTED ALTERNATIVE PHRASING</a:t>
            </a:r>
          </a:p>
          <a:p>
            <a:pPr>
              <a:spcBef>
                <a:spcPts val="400"/>
              </a:spcBef>
              <a:defRPr sz="1050" i="1">
                <a:solidFill>
                  <a:srgbClr val="E2E8F0"/>
                </a:solidFill>
                <a:latin typeface="Segoe UI"/>
              </a:defRPr>
            </a:pPr>
            <a:r>
              <a:t>“I understand your concern. The slides I took have the technical diagrams, but let's rebalance them right now so we both have an equal count.”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07 / 15</a:t>
            </a:r>
          </a:p>
        </p:txBody>
      </p:sp>
    </p:spTree>
  </p:cSld>
  <p:clrMapOvr>
    <a:masterClrMapping/>
  </p:clrMapOvr>
  <p:transition xmlns:p16="http://schemas.microsoft.com/office/powerpoint/2015/09/main">
    <p16:morph option="byObject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ENGINEERING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Production AI Architecture &amp; Data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691640" cy="3931920"/>
          </a:xfrm>
          <a:prstGeom prst="rect">
            <a:avLst/>
          </a:prstGeom>
          <a:solidFill>
            <a:srgbClr val="1018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508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  <a:latin typeface="Segoe UI"/>
              </a:defRPr>
            </a:pPr>
            <a:r>
              <a:t>01. CLIENT LAYER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React 18 + Vite SPA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Web Speech API audio capture &amp; I18n trilingual translation runtime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1920240"/>
            <a:ext cx="1691640" cy="3931920"/>
          </a:xfrm>
          <a:prstGeom prst="rect">
            <a:avLst/>
          </a:prstGeom>
          <a:solidFill>
            <a:srgbClr val="1018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33472" y="2057400"/>
            <a:ext cx="1508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Segoe UI"/>
              </a:defRPr>
            </a:pPr>
            <a:r>
              <a:t>02. GATEWAY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FastAPI ASGI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Python 3.11 serverless routing with JWT bearer authentication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920240"/>
            <a:ext cx="1691640" cy="3931920"/>
          </a:xfrm>
          <a:prstGeom prst="rect">
            <a:avLst/>
          </a:prstGeom>
          <a:solidFill>
            <a:srgbClr val="10182C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4" y="2057400"/>
            <a:ext cx="1508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366F1"/>
                </a:solidFill>
                <a:latin typeface="Segoe UI"/>
              </a:defRPr>
            </a:pPr>
            <a:r>
              <a:t>03. CONTEXT ENGINE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context_builder.py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Referent anchor tracking &amp; intent classification across dialogue turns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3056" y="1920240"/>
            <a:ext cx="1691640" cy="3931920"/>
          </a:xfrm>
          <a:prstGeom prst="rect">
            <a:avLst/>
          </a:prstGeom>
          <a:solidFill>
            <a:srgbClr val="10182C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2057400"/>
            <a:ext cx="1508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4B8A6"/>
                </a:solidFill>
                <a:latin typeface="Segoe UI"/>
              </a:defRPr>
            </a:pPr>
            <a:r>
              <a:t>04. LLM &amp; FALLBACK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Gemini 2.0 / OpenAI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Temperature-calibrated persona prompting with deterministic rule fallback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3568" y="1920240"/>
            <a:ext cx="1691640" cy="3931920"/>
          </a:xfrm>
          <a:prstGeom prst="rect">
            <a:avLst/>
          </a:prstGeom>
          <a:solidFill>
            <a:srgbClr val="10182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8" y="2057400"/>
            <a:ext cx="1508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59E0B"/>
                </a:solidFill>
                <a:latin typeface="Segoe UI"/>
              </a:defRPr>
            </a:pPr>
            <a:r>
              <a:t>05. EVALUATION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evaluation_service.py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Clarity, relevance, confidence scoring + alternative phrasing generation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1920240"/>
            <a:ext cx="1691640" cy="3931920"/>
          </a:xfrm>
          <a:prstGeom prst="rect">
            <a:avLst/>
          </a:prstGeom>
          <a:solidFill>
            <a:srgbClr val="1018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0" y="2057400"/>
            <a:ext cx="1508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  <a:latin typeface="Segoe UI"/>
              </a:defRPr>
            </a:pPr>
            <a:r>
              <a:t>06. PERSISTENCE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SQLAlchemy + DB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Persona-isolated schema, streak computation &amp; parent digest aggregation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6B6D4"/>
                </a:solidFill>
                <a:latin typeface="Segoe UI"/>
              </a:defRPr>
            </a:pPr>
            <a:r>
              <a:t>ENGINEERING HIGHLIGHT: Referent anchor tracking in context_builder.py resolves pronoun antecedents across 4+ turns, preventing topic drift.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08 / 15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ADAPTIVE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Continuous Calibration: Every Interaction Makes the Next Smarter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3383280" cy="1828800"/>
          </a:xfrm>
          <a:prstGeom prst="rect">
            <a:avLst/>
          </a:prstGeom>
          <a:solidFill>
            <a:srgbClr val="1018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76272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 Semibold"/>
              </a:defRPr>
            </a:pPr>
            <a:r>
              <a:t>01. ASSESS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Lightweight baseline diagnostic evaluating strengths and sensory preferences.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9976" y="2011680"/>
            <a:ext cx="3383280" cy="1828800"/>
          </a:xfrm>
          <a:prstGeom prst="rect">
            <a:avLst/>
          </a:prstGeom>
          <a:solidFill>
            <a:srgbClr val="1018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2856" y="2176272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 Semibold"/>
              </a:defRPr>
            </a:pPr>
            <a:r>
              <a:t>02. PRACTICE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Engaging in interactive voice/text scenarios and foundational skill modules.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8432" y="2011680"/>
            <a:ext cx="3383280" cy="1828800"/>
          </a:xfrm>
          <a:prstGeom prst="rect">
            <a:avLst/>
          </a:prstGeom>
          <a:solidFill>
            <a:srgbClr val="10182C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2176272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  <a:latin typeface="Segoe UI Semibold"/>
              </a:defRPr>
            </a:pPr>
            <a:r>
              <a:t>03. OBSERVE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Tracking response latency, sentence complexity, and vocabulary retention in real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3383280" cy="1828800"/>
          </a:xfrm>
          <a:prstGeom prst="rect">
            <a:avLst/>
          </a:prstGeom>
          <a:solidFill>
            <a:srgbClr val="10182C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79392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4B8A6"/>
                </a:solidFill>
                <a:latin typeface="Segoe UI Semibold"/>
              </a:defRPr>
            </a:pPr>
            <a:r>
              <a:t>04. EVALUATE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Scoring Clarity, Relevance, and Confidence immediately post-session.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9976" y="4114800"/>
            <a:ext cx="3383280" cy="1828800"/>
          </a:xfrm>
          <a:prstGeom prst="rect">
            <a:avLst/>
          </a:prstGeom>
          <a:solidFill>
            <a:srgbClr val="10182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4279392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Segoe UI Semibold"/>
              </a:defRPr>
            </a:pPr>
            <a:r>
              <a:t>05. ADAPT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Recalibrating scenario difficulty thresholds and sensory stimulation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8432" y="4114800"/>
            <a:ext cx="3383280" cy="1828800"/>
          </a:xfrm>
          <a:prstGeom prst="rect">
            <a:avLst/>
          </a:prstGeom>
          <a:solidFill>
            <a:srgbClr val="1018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4279392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 Semibold"/>
              </a:defRPr>
            </a:pPr>
            <a:r>
              <a:t>06. RECOMMEND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Generating the 'Next Best Practice' card directly on the learner's dashboard.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09 / 15</a:t>
            </a:r>
          </a:p>
        </p:txBody>
      </p:sp>
    </p:spTree>
  </p:cSld>
  <p:clrMapOvr>
    <a:masterClrMapping/>
  </p:clrMapOvr>
  <p:transition xmlns:p16="http://schemas.microsoft.com/office/powerpoint/2015/09/main">
    <p16:morph option="byObject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MULTIMODAL 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Speak. Listen. Practice in Your Language.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Segoe UI Semibold"/>
              </a:defRPr>
            </a:pPr>
            <a:r>
              <a:t>SPEAK.</a:t>
            </a:r>
            <a:br/>
            <a:r>
              <a:t>LISTEN.</a:t>
            </a:r>
            <a:br/>
            <a:r>
              <a:t>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Web Speech API integration powers authentic real-world phone calls and conversational speech recognition without third-party vendor latency.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828800"/>
            <a:ext cx="4846320" cy="1280160"/>
          </a:xfrm>
          <a:prstGeom prst="rect">
            <a:avLst/>
          </a:prstGeom>
          <a:solidFill>
            <a:srgbClr val="1018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 Semibold"/>
              </a:defRPr>
            </a:pPr>
            <a:r>
              <a:t>ENGLISH  [en]</a:t>
            </a:r>
          </a:p>
          <a:p>
            <a:pPr>
              <a:spcBef>
                <a:spcPts val="300"/>
              </a:spcBef>
              <a:defRPr sz="1050">
                <a:solidFill>
                  <a:srgbClr val="E2E8F0"/>
                </a:solidFill>
                <a:latin typeface="Segoe UI"/>
              </a:defRPr>
            </a:pPr>
            <a:r>
              <a:t>Standard international terminology for academic and professional workplace mastery.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3291840"/>
            <a:ext cx="4846320" cy="1280160"/>
          </a:xfrm>
          <a:prstGeom prst="rect">
            <a:avLst/>
          </a:prstGeom>
          <a:solidFill>
            <a:srgbClr val="1018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3429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 Semibold"/>
              </a:defRPr>
            </a:pPr>
            <a:r>
              <a:t>URDU  (اردو)  [ur]</a:t>
            </a:r>
          </a:p>
          <a:p>
            <a:pPr>
              <a:spcBef>
                <a:spcPts val="300"/>
              </a:spcBef>
              <a:defRPr sz="1050">
                <a:solidFill>
                  <a:srgbClr val="E2E8F0"/>
                </a:solidFill>
                <a:latin typeface="Segoe UI"/>
              </a:defRPr>
            </a:pPr>
            <a:r>
              <a:t>Full native Right-to-Left (RTL) typography with culturally grounded phrasing.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4754880"/>
            <a:ext cx="4846320" cy="1280160"/>
          </a:xfrm>
          <a:prstGeom prst="rect">
            <a:avLst/>
          </a:prstGeom>
          <a:solidFill>
            <a:srgbClr val="10182C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489204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  <a:latin typeface="Segoe UI Semibold"/>
              </a:defRPr>
            </a:pPr>
            <a:r>
              <a:t>ROMAN URDU  [ur_rm]</a:t>
            </a:r>
          </a:p>
          <a:p>
            <a:pPr>
              <a:spcBef>
                <a:spcPts val="300"/>
              </a:spcBef>
              <a:defRPr sz="1050">
                <a:solidFill>
                  <a:srgbClr val="E2E8F0"/>
                </a:solidFill>
                <a:latin typeface="Segoe UI"/>
              </a:defRPr>
            </a:pPr>
            <a:r>
              <a:t>Phonetic conversational vernacular widely spoken across South Asian diaspora communities.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10 / 15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FAMILY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Parent Companion: Understand Progress — Not Control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6583680" cy="4590288"/>
          </a:xfrm>
          <a:prstGeom prst="round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182880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2416" y="182880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182880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792224"/>
            <a:ext cx="51206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  <a:latin typeface="Segoe UI"/>
              </a:defRPr>
            </a:pPr>
            <a:r>
              <a:t>https://humsaathi.ai/parent/communication</a:t>
            </a:r>
          </a:p>
        </p:txBody>
      </p:sp>
      <p:pic>
        <p:nvPicPr>
          <p:cNvPr id="10" name="Picture 9" descr="parent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029968"/>
            <a:ext cx="6547104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1828800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4 CORE COMMUNICATION DIMENSIONS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GREETING &amp; INITIATION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Measures the learner's ability to initiate conversations comfortably.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ANSWERING QUESTIONS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Evaluates directness, relevance, and response accuracy.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ASKING QUESTIONS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Tracks proactive inquiry, requesting help, and conversational curiosity.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CONFIDENCE INDEX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Monitors conversational flow, pacing, and reduced hesitation.</a:t>
            </a:r>
          </a:p>
          <a:p>
            <a:pPr>
              <a:spcBef>
                <a:spcPts val="1200"/>
              </a:spcBef>
              <a:defRPr sz="950">
                <a:solidFill>
                  <a:srgbClr val="06B6D4"/>
                </a:solidFill>
                <a:latin typeface="Segoe UI"/>
              </a:defRPr>
            </a:pPr>
            <a:r>
              <a:t>🔒 PRIVACY-FIRST: Parents receive AI weekly digests and home practice guidance without reading private transcripts.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11 / 15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PRODUCTION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Full-Stack AI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728655" cy="749808"/>
          </a:xfrm>
          <a:prstGeom prst="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 Semibold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993392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React 18  ·  Vite  ·  React Router v7  ·  Native CSS Design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93392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Sub-second initial paint, zero bloated component libraries, full accessibility contrast.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10728655" cy="749808"/>
          </a:xfrm>
          <a:prstGeom prst="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6207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 Semibold"/>
              </a:defRPr>
            </a:pPr>
            <a:r>
              <a:t>BACKEND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862072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Python 3.11  ·  FastAPI  ·  Pydantic v2  ·  Uvicorn ASGI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862072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Asynchronous serverless endpoints with microsecond request validation and rate limiting.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10728655" cy="749808"/>
          </a:xfrm>
          <a:prstGeom prst="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3075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Segoe UI Semibold"/>
              </a:defRPr>
            </a:pPr>
            <a:r>
              <a:t>AI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30752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Google Gemini 2.0  ·  OpenAI GPT-4o  ·  Deterministic Rule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730752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Referent anchor resolution, intent classification, and instant offline fallback resiliency.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34840"/>
            <a:ext cx="10728655" cy="749808"/>
          </a:xfrm>
          <a:prstGeom prst="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Segoe UI Semibold"/>
              </a:defRPr>
            </a:pPr>
            <a:r>
              <a:t>PERSISTENCE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599432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SQLAlchemy ORM  ·  SQLite (Local)  ·  PostgreSQL (Cloud)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599432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Relational data schema with strict persona isolation filters and real-time streak computation.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303520"/>
            <a:ext cx="10728655" cy="749808"/>
          </a:xfrm>
          <a:prstGeom prst="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6811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 Semibold"/>
              </a:defRPr>
            </a:pPr>
            <a:r>
              <a:t>INFRASTRUCTURE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5468112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Vercel Serverless Functions  ·  Global Edge CDN  ·  GitHub CI/CD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468112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Automated deployment pipeline with 100% production uptime at hum-saathi-ai.vercel.app.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12 / 15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DATA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Security &amp; Privacy Built Into the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2542032" cy="3931920"/>
          </a:xfrm>
          <a:prstGeom prst="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94560"/>
            <a:ext cx="22128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01. IDENTITY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Segoe UI Semibold"/>
              </a:defRPr>
            </a:pPr>
            <a:r>
              <a:t>JWT &amp; Google OAuth 2.0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Cryptographically verified authentication with passwordless login support.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56432" y="2011680"/>
            <a:ext cx="2542032" cy="3931920"/>
          </a:xfrm>
          <a:prstGeom prst="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1024" y="2194560"/>
            <a:ext cx="22128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02. ROLE CONTROL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Segoe UI Semibold"/>
              </a:defRPr>
            </a:pPr>
            <a:r>
              <a:t>Enterprise RBAC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Strict separation of Learner, Parent, and System Administrator privileges.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2011680"/>
            <a:ext cx="2542032" cy="3931920"/>
          </a:xfrm>
          <a:prstGeom prst="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2194560"/>
            <a:ext cx="22128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03. PERSONA ISOLATION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Segoe UI Semibold"/>
              </a:defRPr>
            </a:pPr>
            <a:r>
              <a:t>Database Partitioning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Adult and Child progress metrics are query-isolated, preventing data leakage.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6256" y="2011680"/>
            <a:ext cx="2542032" cy="3931920"/>
          </a:xfrm>
          <a:prstGeom prst="rect">
            <a:avLst/>
          </a:prstGeom>
          <a:solidFill>
            <a:srgbClr val="10182C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70848" y="2194560"/>
            <a:ext cx="22128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04. CAREGIVER GATE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Segoe UI Semibold"/>
              </a:defRPr>
            </a:pPr>
            <a:r>
              <a:t>Encrypted 4-Digit PIN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Parent portal access locked locally, preventing accidental profile edits.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13 / 15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THE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Why HumSaathi AI? More Than an AI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120640" cy="4297680"/>
          </a:xfrm>
          <a:prstGeom prst="rect">
            <a:avLst/>
          </a:prstGeom>
          <a:solidFill>
            <a:srgbClr val="10182C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TRADITIONAL PARADIGMS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✕  Generic LLM Prompt Box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Overwhelming for neurodiverse learners; causes executive dysfunction and cognitive shutdown.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✕  Static Flashcards &amp; Quizzes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Teaches passive vocabulary memorization with zero conversational agility.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✕  Binary Right / Wrong Marks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Provides pass/fail scores with no actionable guidance on tone, social nuance, or clarity.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  <a:latin typeface="Segoe UI Semibold"/>
              </a:defRPr>
            </a:pPr>
            <a:r>
              <a:t>✕  One Audience Assumption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Patronizes adults with child cartoons or overwhelms children with dense menus.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828800"/>
            <a:ext cx="5120640" cy="4297680"/>
          </a:xfrm>
          <a:prstGeom prst="rect">
            <a:avLst/>
          </a:prstGeom>
          <a:solidFill>
            <a:srgbClr val="1621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HUMSAATHI AI INNOVATION</a:t>
            </a:r>
          </a:p>
          <a:p>
            <a:pPr>
              <a:spcBef>
                <a:spcPts val="600"/>
              </a:spcBef>
              <a:defRPr sz="1200" b="1">
                <a:solidFill>
                  <a:srgbClr val="10B981"/>
                </a:solidFill>
                <a:latin typeface="Segoe UI Semibold"/>
              </a:defRPr>
            </a:pPr>
            <a:r>
              <a:t>✓  Scaffolded Scenario Roleplay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27 goal-oriented real-world situations with empathetic turn-by-turn guidance.</a:t>
            </a:r>
          </a:p>
          <a:p>
            <a:pPr>
              <a:spcBef>
                <a:spcPts val="600"/>
              </a:spcBef>
              <a:defRPr sz="1200" b="1">
                <a:solidFill>
                  <a:srgbClr val="10B981"/>
                </a:solidFill>
                <a:latin typeface="Segoe UI Semibold"/>
              </a:defRPr>
            </a:pPr>
            <a:r>
              <a:t>✓  Multidimensional Evaluation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Objective scoring of Clarity, Relevance, and Confidence post-session.</a:t>
            </a:r>
          </a:p>
          <a:p>
            <a:pPr>
              <a:spcBef>
                <a:spcPts val="600"/>
              </a:spcBef>
              <a:defRPr sz="1200" b="1">
                <a:solidFill>
                  <a:srgbClr val="10B981"/>
                </a:solidFill>
                <a:latin typeface="Segoe UI Semibold"/>
              </a:defRPr>
            </a:pPr>
            <a:r>
              <a:t>✓  Suggested Alternative Phrasing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Teaches learners how to rephrase thoughts more constructively next time.</a:t>
            </a:r>
          </a:p>
          <a:p>
            <a:pPr>
              <a:spcBef>
                <a:spcPts val="600"/>
              </a:spcBef>
              <a:defRPr sz="1200" b="1">
                <a:solidFill>
                  <a:srgbClr val="10B981"/>
                </a:solidFill>
                <a:latin typeface="Segoe UI Semibold"/>
              </a:defRPr>
            </a:pPr>
            <a:r>
              <a:t>✓  Lifespan Personalization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Deeply tailored Child, Teen, and Adult portals with parent observation insights.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14 / 15</a:t>
            </a:r>
          </a:p>
        </p:txBody>
      </p:sp>
    </p:spTree>
  </p:cSld>
  <p:clrMapOvr>
    <a:masterClrMapping/>
  </p:clrMapOvr>
  <p:transition xmlns:p16="http://schemas.microsoft.com/office/powerpoint/2015/09/main">
    <p16:morph option="byObject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999713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4748B"/>
                </a:solidFill>
                <a:latin typeface="Segoe UI Semibold"/>
              </a:defRPr>
            </a:pPr>
            <a:r>
              <a:t>LEARNING IS PERSONAL.</a:t>
            </a:r>
          </a:p>
          <a:p>
            <a:pPr>
              <a:spcBef>
                <a:spcPts val="400"/>
              </a:spcBef>
              <a:defRPr sz="3600" b="1">
                <a:solidFill>
                  <a:srgbClr val="06B6D4"/>
                </a:solidFill>
                <a:latin typeface="Segoe UI Semibold"/>
              </a:defRPr>
            </a:pPr>
            <a:r>
              <a:t>COMMUNICATION IS PRACTICE.</a:t>
            </a:r>
          </a:p>
          <a:p>
            <a:pPr>
              <a:spcBef>
                <a:spcPts val="400"/>
              </a:spcBef>
              <a:defRPr sz="3200" b="1">
                <a:solidFill>
                  <a:srgbClr val="64748B"/>
                </a:solidFill>
                <a:latin typeface="Segoe UI Semibold"/>
              </a:defRPr>
            </a:pPr>
            <a:r>
              <a:t>GROWTH IS CONTINUOUS.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840480"/>
            <a:ext cx="9997135" cy="18288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Segoe UI Semibold"/>
              </a:defRPr>
            </a:pPr>
            <a:r>
              <a:t>HUMSAATHI AI</a:t>
            </a:r>
          </a:p>
          <a:p>
            <a:pPr>
              <a:spcBef>
                <a:spcPts val="200"/>
              </a:spcBef>
              <a:defRPr sz="1800" b="1">
                <a:solidFill>
                  <a:srgbClr val="06B6D4"/>
                </a:solidFill>
                <a:latin typeface="Segoe UI"/>
              </a:defRPr>
            </a:pPr>
            <a:r>
              <a:t>Learn. Communicate. Grow.</a:t>
            </a:r>
          </a:p>
          <a:p>
            <a:pPr>
              <a:spcBef>
                <a:spcPts val="800"/>
              </a:spcBef>
              <a:defRPr sz="1400" i="1">
                <a:solidFill>
                  <a:srgbClr val="E2E8F0"/>
                </a:solidFill>
                <a:latin typeface="Segoe UI"/>
              </a:defRPr>
            </a:pPr>
            <a:r>
              <a:t>“HumSaathi AI doesn't just teach users what to learn — it helps them learn how to communicate, practice, and grow.”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HumSaathi AI  ·  Product Pitch Deck  ·  15 / 15</a:t>
            </a:r>
          </a:p>
        </p:txBody>
      </p:sp>
    </p:spTree>
  </p:cSld>
  <p:clrMapOvr>
    <a:masterClrMapping/>
  </p:clrMapOvr>
  <p:transition xmlns:p16="http://schemas.microsoft.com/office/powerpoint/2015/09/main">
    <p16:morph option="byObjec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