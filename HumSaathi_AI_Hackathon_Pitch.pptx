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— HERO / TITLE (Learn. Communicate. Grow.)</a:t>
            </a:r>
          </a:p>
          <a:p/>
          <a:p>
            <a:r>
              <a:t>SPEAKING TIME: 30 Seconds</a:t>
            </a:r>
          </a:p>
          <a:p/>
          <a:p>
            <a:r>
              <a:t>WHAT TO SAY:</a:t>
            </a:r>
          </a:p>
          <a:p>
            <a:r>
              <a:t>"Good morning, esteemed judges. Over 1 billion people worldwide navigate neurodiversity and speech-language challenges. Yet today's educational tools treat learning as a rigid, one-way street. We are proud to introduce HumSaathi AI — an adaptive communication and learning companion engineered to empower neurodiverse learners across their entire lifespan: Child, Teen, and Adult. HumSaathi doesn't just teach facts — it coaches real-world communication confidence."</a:t>
            </a:r>
          </a:p>
          <a:p/>
          <a:p>
            <a:r>
              <a:t>KEY POINT FOR JUDGES:</a:t>
            </a:r>
          </a:p>
          <a:p>
            <a:r>
              <a:t>- Emphasize lifespan coverage (Child, Teen, Adult).</a:t>
            </a:r>
          </a:p>
          <a:p>
            <a:r>
              <a:t>- Frame communication as the core barrier being solved.</a:t>
            </a:r>
          </a:p>
          <a:p/>
          <a:p>
            <a:r>
              <a:t>DEMO TRANSITION:</a:t>
            </a:r>
          </a:p>
          <a:p>
            <a:r>
              <a:t>"Before showing you how HumSaathi AI works, let's examine why traditional educational technology fails these learners."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— THE PROBLEM (Learning Shouldn't Be One-Size-Fits-All)</a:t>
            </a:r>
          </a:p>
          <a:p/>
          <a:p>
            <a:r>
              <a:t>SPEAKING TIME: 35 Seconds</a:t>
            </a:r>
          </a:p>
          <a:p/>
          <a:p>
            <a:r>
              <a:t>WHAT TO SAY:</a:t>
            </a:r>
          </a:p>
          <a:p>
            <a:r>
              <a:t>"Why is communication learning broken for neurodiverse individuals? We identified four critical fractures:</a:t>
            </a:r>
          </a:p>
          <a:p>
            <a:r>
              <a:t>First, Static Content — apps force every learner through the same rigid lessons.</a:t>
            </a:r>
          </a:p>
          <a:p>
            <a:r>
              <a:t>Second, The Practice Gap — knowing a word isn't the same as knowing how to use it in a conversation.</a:t>
            </a:r>
          </a:p>
          <a:p>
            <a:r>
              <a:t>Third, The Feedback Void — red checkmarks don't teach conversational flow or social nuance.</a:t>
            </a:r>
          </a:p>
          <a:p>
            <a:r>
              <a:t>And fourth, High Anxiety — facing unpredictable real-world interactions without safe simulation causes withdrawal."</a:t>
            </a:r>
          </a:p>
          <a:p/>
          <a:p>
            <a:r>
              <a:t>KEY POINT FOR JUDGES:</a:t>
            </a:r>
          </a:p>
          <a:p>
            <a:r>
              <a:t>- Show that this isn't just about general education; it's about social and emotional independence.</a:t>
            </a:r>
          </a:p>
          <a:p/>
          <a:p>
            <a:r>
              <a:t>TRANSITION:</a:t>
            </a:r>
          </a:p>
          <a:p>
            <a:r>
              <a:t>"This is exactly why we built HumSaathi AI."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— THE BIG IDEA (Meet HumSaathi AI)</a:t>
            </a:r>
          </a:p>
          <a:p/>
          <a:p>
            <a:r>
              <a:t>SPEAKING TIME: 30 Seconds</a:t>
            </a:r>
          </a:p>
          <a:p/>
          <a:p>
            <a:r>
              <a:t>WHAT TO SAY:</a:t>
            </a:r>
          </a:p>
          <a:p>
            <a:r>
              <a:t>"Meet HumSaathi AI — which means 'Our Companion'.</a:t>
            </a:r>
          </a:p>
          <a:p>
            <a:r>
              <a:t>Instead of asking the learner to conform to the software, HumSaathi conforms to the learner.</a:t>
            </a:r>
          </a:p>
          <a:p>
            <a:r>
              <a:t>The learner is paired with an AI Companion that personalizes content, orchestrates realistic roleplay, and observes communication patterns in real-time. The result is genuine, measurable growth."</a:t>
            </a:r>
          </a:p>
          <a:p/>
          <a:p>
            <a:r>
              <a:t>KEY POINT FOR JUDGES:</a:t>
            </a:r>
          </a:p>
          <a:p>
            <a:r>
              <a:t>- Emphasize that HumSaathi is an interactive coach, not a static quiz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— ONE PLATFORM. THREE EXPERIENCES.</a:t>
            </a:r>
          </a:p>
          <a:p/>
          <a:p>
            <a:r>
              <a:t>SPEAKING TIME: 30 Seconds</a:t>
            </a:r>
          </a:p>
          <a:p/>
          <a:p>
            <a:r>
              <a:t>WHAT TO SAY:</a:t>
            </a:r>
          </a:p>
          <a:p>
            <a:r>
              <a:t>"Most platforms make the mistake of treating all users like children, or assuming adults want cartoon interfaces. HumSaathi AI recognizes that needs radically shift across life stages:</a:t>
            </a:r>
          </a:p>
          <a:p>
            <a:r>
              <a:t>For Children, it's about sensory predictability and exploratory basics.</a:t>
            </a:r>
          </a:p>
          <a:p>
            <a:r>
              <a:t>For Teens, it's about navigating complex peer dynamics and social confidence.</a:t>
            </a:r>
          </a:p>
          <a:p>
            <a:r>
              <a:t>For Adults, it's about independent living, workplace meetings, job interviews, and autonomy.</a:t>
            </a:r>
          </a:p>
          <a:p>
            <a:r>
              <a:t>Let's look at each portal."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— CHILD PORTAL (Learn Through Exploration)</a:t>
            </a:r>
          </a:p>
          <a:p/>
          <a:p>
            <a:r>
              <a:t>SPEAKING TIME: 30 Seconds</a:t>
            </a:r>
          </a:p>
          <a:p/>
          <a:p>
            <a:r>
              <a:t>WHAT TO SAY:</a:t>
            </a:r>
          </a:p>
          <a:p>
            <a:r>
              <a:t>"In the Child Portal, we focus on sensory safety and predictable structure. We've implemented 7 core activity categories: Letters, Numbers, Colors, Shapes, Animals, Emotions, and Daily Routines. Notice the design philosophy: no countdown timers, no punitive buzzer sounds, and no sudden animations. Everything is calm, predictable, and supportive of bilingual English and Urdu development."</a:t>
            </a:r>
          </a:p>
          <a:p/>
          <a:p>
            <a:r>
              <a:t>KEY POINT FOR JUDGES:</a:t>
            </a:r>
          </a:p>
          <a:p>
            <a:r>
              <a:t>- Mention that activities are fully implemented on both frontend and backend.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— TEEN + ADULT PORTALS (Age-Appropriate Real-World Practice)</a:t>
            </a:r>
          </a:p>
          <a:p/>
          <a:p>
            <a:r>
              <a:t>SPEAKING TIME: 35 Seconds</a:t>
            </a:r>
          </a:p>
          <a:p/>
          <a:p>
            <a:r>
              <a:t>WHAT TO SAY:</a:t>
            </a:r>
          </a:p>
          <a:p>
            <a:r>
              <a:t>"Here is where HumSaathi AI truly shines. In the Teen Portal, we tackle social nuance. Teens receive daily challenges like politely expressing a disagreement or asking for help when stuck, alongside real streak metrics.</a:t>
            </a:r>
          </a:p>
          <a:p>
            <a:r>
              <a:t>In the Adult Portal, the UI shifts to a sleek, professional aesthetic focused on career readiness and independence. Adults practice job interviews, speaking to managers, handling banking queries, and practical problem-solving like a cancelled bus commute. This is not gamified fluff; it is real life training."</a:t>
            </a:r>
          </a:p>
          <a:p/>
          <a:p>
            <a:r>
              <a:t>KEY POINT FOR JUDGES:</a:t>
            </a:r>
          </a:p>
          <a:p>
            <a:r>
              <a:t>- Highlight that 27 realistic scenarios are built into the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— AI COMMUNICATION COACH (Practices With You)</a:t>
            </a:r>
          </a:p>
          <a:p/>
          <a:p>
            <a:r>
              <a:t>SPEAKING TIME: 40 Seconds</a:t>
            </a:r>
          </a:p>
          <a:p/>
          <a:p>
            <a:r>
              <a:t>WHAT TO SAY:</a:t>
            </a:r>
          </a:p>
          <a:p>
            <a:r>
              <a:t>"This is our standout technical feature. HumSaathi AI does not just answer questions like a generic chatbot. It steps into character — as an interviewer, a coworker, or a peer — and conducts realistic turn-by-turn roleplay.</a:t>
            </a:r>
          </a:p>
          <a:p>
            <a:r>
              <a:t>Look at what happens after the conversation:</a:t>
            </a:r>
          </a:p>
          <a:p>
            <a:r>
              <a:t>The AI produces a multi-dimensional diagnostic evaluating Clarity, Relevance, and Confidence. Crucially, it provides a 'Suggested Alternative Response', showing learners exactly how to rephrase their thoughts more naturally and professionally next time."</a:t>
            </a:r>
          </a:p>
          <a:p/>
          <a:p>
            <a:r>
              <a:t>KEY POINT FOR JUDGES:</a:t>
            </a:r>
          </a:p>
          <a:p>
            <a:r>
              <a:t>- Emphasize that it teaches communication *mechanics*, not just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— PRODUCTION AI ARCHITECTURE (How The AI Works)</a:t>
            </a:r>
          </a:p>
          <a:p/>
          <a:p>
            <a:r>
              <a:t>SPEAKING TIME: 40 Seconds</a:t>
            </a:r>
          </a:p>
          <a:p/>
          <a:p>
            <a:r>
              <a:t>WHAT TO SAY:</a:t>
            </a:r>
          </a:p>
          <a:p>
            <a:r>
              <a:t>"For our technical judges: how does this actually work under the hood?</a:t>
            </a:r>
          </a:p>
          <a:p>
            <a:r>
              <a:t>Our frontend in React 18 streams user voice and text into a Python FastAPI backend.</a:t>
            </a:r>
          </a:p>
          <a:p>
            <a:r>
              <a:t>Before sending any request to an LLM, it passes through our Context and Persona Grounding Engine in context_builder.py. This resolves referent pronouns, classifies intent, attaches the user's communication profile, and grounds the conversation.</a:t>
            </a:r>
          </a:p>
          <a:p>
            <a:r>
              <a:t>We support Google Gemini 2.0 and OpenAI models. But notice our resiliency layer: if API limits or network drops occur, our deterministic conversation engine steps in seamlessly, ensuring zero downtime for the learner."</a:t>
            </a:r>
          </a:p>
          <a:p/>
          <a:p>
            <a:r>
              <a:t>KEY POINT FOR JUDGES:</a:t>
            </a:r>
          </a:p>
          <a:p>
            <a:r>
              <a:t>- Demonstrates production-grade design and thoughtful offline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— ADAPTIVE LEARNING LOOP</a:t>
            </a:r>
          </a:p>
          <a:p/>
          <a:p>
            <a:r>
              <a:t>SPEAKING TIME: 30 Seconds</a:t>
            </a:r>
          </a:p>
          <a:p/>
          <a:p>
            <a:r>
              <a:t>WHAT TO SAY:</a:t>
            </a:r>
          </a:p>
          <a:p>
            <a:r>
              <a:t>"HumSaathi AI is an adaptive loop: Assess, Practice, Observe, Evaluate, Adapt, and Recommend.</a:t>
            </a:r>
          </a:p>
          <a:p>
            <a:r>
              <a:t>When a learner struggles with expressing disagreement in a teen club scenario, the engine notices the hesitation. Instead of penalizing them, it adapts: it suggests an intermediate roleplay on active listening, and updates the dashboard's 'Next Best Practice' banner.</a:t>
            </a:r>
          </a:p>
          <a:p>
            <a:r>
              <a:t>The system grows with the learner day by day."</a:t>
            </a:r>
          </a:p>
          <a:p/>
          <a:p>
            <a:r>
              <a:t>KEY POINT FOR JUDGES:</a:t>
            </a:r>
          </a:p>
          <a:p>
            <a:r>
              <a:t>- Explains the recommendation algorithm and personalized progression.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— MULTIMODAL COMMUNICATION (Text + Voice + AI)</a:t>
            </a:r>
          </a:p>
          <a:p/>
          <a:p>
            <a:r>
              <a:t>SPEAKING TIME: 30 Seconds</a:t>
            </a:r>
          </a:p>
          <a:p/>
          <a:p>
            <a:r>
              <a:t>WHAT TO SAY:</a:t>
            </a:r>
          </a:p>
          <a:p>
            <a:r>
              <a:t>"Real communication happens through both speech and text. HumSaathi AI integrates the browser's Web Speech API to deliver simulated telephone and in-person voice conversations.</a:t>
            </a:r>
          </a:p>
          <a:p>
            <a:r>
              <a:t>Furthermore, we recognize regional accessibility: HumSaathi is natively trilingual. It supports English, native Urdu with complete RTL typography, and Roman Urdu — ensuring learners across South Asia and global diaspora communities can practice in the dialect they speak at home."</a:t>
            </a:r>
          </a:p>
          <a:p/>
          <a:p>
            <a:r>
              <a:t>KEY POINT FOR JUDGES:</a:t>
            </a:r>
          </a:p>
          <a:p>
            <a:r>
              <a:t>- Highlight cultural inclusivity and real-world applicability.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— PARENT COMPANION (Understand Progress — Not Control It)</a:t>
            </a:r>
          </a:p>
          <a:p/>
          <a:p>
            <a:r>
              <a:t>SPEAKING TIME: 30 Seconds</a:t>
            </a:r>
          </a:p>
          <a:p/>
          <a:p>
            <a:r>
              <a:t>WHAT TO SAY:</a:t>
            </a:r>
          </a:p>
          <a:p>
            <a:r>
              <a:t>"Parents of neurodiverse children often feel blind: 'Is my child improving? How do I help them at home?'</a:t>
            </a:r>
          </a:p>
          <a:p>
            <a:r>
              <a:t>The Parent Portal solves this with four core communication metrics: Greeting, Answering, Asking, and Confidence.</a:t>
            </a:r>
          </a:p>
          <a:p>
            <a:r>
              <a:t>Crucially, we maintain privacy: parents do not read private transcripts. Instead, our AI Companion synthesizes actionable insights, telling parents: 'Your child mastered asking for help this week. Encourage them to order at the restaurant tonight.' It turns technology into real family connection."</a:t>
            </a:r>
          </a:p>
          <a:p/>
          <a:p>
            <a:r>
              <a:t>KEY POINT FOR JUDGES:</a:t>
            </a:r>
          </a:p>
          <a:p>
            <a:r>
              <a:t>- Emphasize privacy and constructive parental empowerment.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— TECHNOLOGY STACK (Full-Stack AI Ecosystem)</a:t>
            </a:r>
          </a:p>
          <a:p/>
          <a:p>
            <a:r>
              <a:t>SPEAKING TIME: 30 Seconds</a:t>
            </a:r>
          </a:p>
          <a:p/>
          <a:p>
            <a:r>
              <a:t>WHAT TO SAY:</a:t>
            </a:r>
          </a:p>
          <a:p>
            <a:r>
              <a:t>"Here is our actual technology stack:</a:t>
            </a:r>
          </a:p>
          <a:p>
            <a:r>
              <a:t>We chose React 18 and Vite for near-instant rendering and low sensory load.</a:t>
            </a:r>
          </a:p>
          <a:p>
            <a:r>
              <a:t>Our backend runs Python 3.11 with FastAPI, providing lightning-fast asynchronous ASGI response times.</a:t>
            </a:r>
          </a:p>
          <a:p>
            <a:r>
              <a:t>For AI, we integrate Google Gemini 2.0 with strict temperature calibration and fallback mechanisms.</a:t>
            </a:r>
          </a:p>
          <a:p>
            <a:r>
              <a:t>Everything is deployed live on Vercel's global edge network at hum-saathi-ai.vercel.app with automated CI/CD."</a:t>
            </a:r>
          </a:p>
          <a:p/>
          <a:p>
            <a:r>
              <a:t>KEY POINT FOR JUDGES:</a:t>
            </a:r>
          </a:p>
          <a:p>
            <a:r>
              <a:t>- Emphasize that this is already live in production, not a mock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 — SECURITY &amp; ACCESS CONTROL (Privacy in Mind)</a:t>
            </a:r>
          </a:p>
          <a:p/>
          <a:p>
            <a:r>
              <a:t>SPEAKING TIME: 30 Seconds</a:t>
            </a:r>
          </a:p>
          <a:p/>
          <a:p>
            <a:r>
              <a:t>WHAT TO SAY:</a:t>
            </a:r>
          </a:p>
          <a:p>
            <a:r>
              <a:t>"When dealing with vulnerable populations, safety and privacy cannot be an afterthought.</a:t>
            </a:r>
          </a:p>
          <a:p>
            <a:r>
              <a:t>HumSaathi AI implements strict persona data isolation — an adult's workplace metrics and a child's foundational phonics are physically segregated at the database query level.</a:t>
            </a:r>
          </a:p>
          <a:p>
            <a:r>
              <a:t>We support Google OAuth 2.0 and JWT auth, protect the Parent Portal with an encrypted PIN, and provide comprehensive Role-Based Access Control with audit logs in the Admin Center."</a:t>
            </a:r>
          </a:p>
          <a:p/>
          <a:p>
            <a:r>
              <a:t>KEY POINT FOR JUDGES:</a:t>
            </a:r>
          </a:p>
          <a:p>
            <a:r>
              <a:t>- Conveys enterprise readiness and ethical AI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 — WHY HUMSAATHI AI? (Competitive Differentiation)</a:t>
            </a:r>
          </a:p>
          <a:p/>
          <a:p>
            <a:r>
              <a:t>SPEAKING TIME: 35 Seconds</a:t>
            </a:r>
          </a:p>
          <a:p/>
          <a:p>
            <a:r>
              <a:t>WHAT TO SAY:</a:t>
            </a:r>
          </a:p>
          <a:p>
            <a:r>
              <a:t>"Judges often ask: 'Why not just use ChatGPT or Duolingo?'</a:t>
            </a:r>
          </a:p>
          <a:p>
            <a:r>
              <a:t>Here is the fundamental difference: an open prompt box is overwhelming for someone with neurodiversity or anxiety. HumSaathi AI provides scaffolded structure.</a:t>
            </a:r>
          </a:p>
          <a:p>
            <a:r>
              <a:t>Unlike generic LLMs, HumSaathi evaluates Clarity, Relevance, and Confidence, provides suggested alternative phrasing, and is ergonomically designed for low sensory load. It is an educational health intervention, not a text toy."</a:t>
            </a:r>
          </a:p>
          <a:p/>
          <a:p>
            <a:r>
              <a:t>KEY POINT FOR JUDGES:</a:t>
            </a:r>
          </a:p>
          <a:p>
            <a:r>
              <a:t>- Strong competitive moat established across ergonomics, evaluation, and caregiver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 — FUTURE + CLOSING (Learn. Communicate. Grow.)</a:t>
            </a:r>
          </a:p>
          <a:p/>
          <a:p>
            <a:r>
              <a:t>SPEAKING TIME: 30 Seconds</a:t>
            </a:r>
          </a:p>
          <a:p/>
          <a:p>
            <a:r>
              <a:t>WHAT TO SAY:</a:t>
            </a:r>
          </a:p>
          <a:p>
            <a:r>
              <a:t>"Looking ahead, our roadmap includes therapist telehealth dashboards, offline-first mobile apps, and non-verbal expression coaching.</a:t>
            </a:r>
          </a:p>
          <a:p>
            <a:r>
              <a:t>To conclude:</a:t>
            </a:r>
          </a:p>
          <a:p>
            <a:r>
              <a:t>HumSaathi AI doesn't just teach users what to learn — it helps them learn how to communicate, practice, and grow.</a:t>
            </a:r>
          </a:p>
          <a:p>
            <a:r>
              <a:t>Thank you. The platform is live right now at hum-saathi-ai.vercel.app, and we welcome your questions!"</a:t>
            </a:r>
          </a:p>
          <a:p/>
          <a:p>
            <a:r>
              <a:t>KEY POINT FOR JUDGES:</a:t>
            </a:r>
          </a:p>
          <a:p>
            <a:r>
              <a:t>- Strong, memorable, emotional yet technical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2E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umsaathi-logo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463040"/>
            <a:ext cx="1371600" cy="535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2926080"/>
            <a:ext cx="8534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8FAFC"/>
                </a:solidFill>
                <a:latin typeface="Segoe UI Semibold"/>
              </a:defRPr>
            </a:pPr>
            <a:r>
              <a:t>HumSaathi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8534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Learn. Communicate. Grow.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343400"/>
            <a:ext cx="8534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  <a:latin typeface="Segoe UI"/>
              </a:defRPr>
            </a:pPr>
            <a:r>
              <a:t>Adaptive AI Learning &amp; Communication Coach for Neurodiverse Learners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4892040"/>
            <a:ext cx="1645920" cy="59436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4919472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🧒 CHILD</a:t>
            </a:r>
          </a:p>
          <a:p>
            <a:pPr algn="ctr">
              <a:defRPr sz="950">
                <a:solidFill>
                  <a:srgbClr val="10B981"/>
                </a:solidFill>
                <a:latin typeface="Segoe UI"/>
              </a:defRPr>
            </a:pPr>
            <a:r>
              <a:t>Ages 4–11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4892040"/>
            <a:ext cx="1645920" cy="59436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4919472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🧑 TEEN</a:t>
            </a:r>
          </a:p>
          <a:p>
            <a:pPr algn="ctr">
              <a:defRPr sz="950">
                <a:solidFill>
                  <a:srgbClr val="6366F1"/>
                </a:solidFill>
                <a:latin typeface="Segoe UI"/>
              </a:defRPr>
            </a:pPr>
            <a:r>
              <a:t>Ages 12–17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4892040"/>
            <a:ext cx="1645920" cy="59436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4919472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👨 ADULT</a:t>
            </a:r>
          </a:p>
          <a:p>
            <a:pPr algn="ctr">
              <a:defRPr sz="950">
                <a:solidFill>
                  <a:srgbClr val="06B6D4"/>
                </a:solidFill>
                <a:latin typeface="Segoe UI"/>
              </a:defRPr>
            </a:pPr>
            <a:r>
              <a:t>Ages 18+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HumSaathi AI  |  Adaptive Communication &amp; Learning Platform  |  Slide 01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 Semibold"/>
              </a:defRPr>
            </a:pPr>
            <a:r>
              <a:t>Learning Shouldn't Be One-Size-Fits-All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Traditional educational tools fail neurodiverse individuals by treating learning as a rigid, one-size-fits-all conveyor belt.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542032" cy="420624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2E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148840"/>
            <a:ext cx="548640" cy="54864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21762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STATIC 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176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 Semibold"/>
              </a:defRPr>
            </a:pPr>
            <a:r>
              <a:t>One-Way Curricula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217627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Standard apps present the identical linear lessons regardless of sensory sensitivities, processing pace, or cognitive fatigue.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920240"/>
            <a:ext cx="2542032" cy="420624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2E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39312" y="2148840"/>
            <a:ext cx="548640" cy="54864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9312" y="217627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🗣️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926080"/>
            <a:ext cx="21762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Segoe UI"/>
              </a:defRPr>
            </a:pPr>
            <a:r>
              <a:t>PRACTICE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3200400"/>
            <a:ext cx="2176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 Semibold"/>
              </a:defRPr>
            </a:pPr>
            <a:r>
              <a:t>Zero Safe Roleplay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3840480"/>
            <a:ext cx="217627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Learners can memorize vocabulary but have no safe, judgment-free space to practice real-world social and conversational exchanges.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920240"/>
            <a:ext cx="2542032" cy="420624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2E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64224" y="2148840"/>
            <a:ext cx="548640" cy="54864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17627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2926080"/>
            <a:ext cx="21762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FEEDBACK VOID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3200400"/>
            <a:ext cx="2176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 Semibold"/>
              </a:defRPr>
            </a:pPr>
            <a:r>
              <a:t>Binary Right/Wrong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3840480"/>
            <a:ext cx="217627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Traditional tools return simple pass/fail checks, offering no actionable coaching on tone, social appropriateness, or confidence.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6256" y="1920240"/>
            <a:ext cx="2542032" cy="420624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2E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89136" y="2148840"/>
            <a:ext cx="548640" cy="54864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89136" y="217627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89136" y="2926080"/>
            <a:ext cx="21762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Segoe UI"/>
              </a:defRPr>
            </a:pPr>
            <a:r>
              <a:t>ANXIETY BARRIER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89136" y="3200400"/>
            <a:ext cx="2176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 Semibold"/>
              </a:defRPr>
            </a:pPr>
            <a:r>
              <a:t>High Social Fatigue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89136" y="3840480"/>
            <a:ext cx="217627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Real-world conversations trigger sensory overload and fear of judgment, preventing independent communication growth.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HumSaathi AI  |  Adaptive Communication &amp; Learning Platform  |  Slide 02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 Semibold"/>
              </a:defRPr>
            </a:pPr>
            <a:r>
              <a:t>Meet HumSaathi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An adaptive intelligence engine connecting personalized learning, real-world communication practice, and measurable progress.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828800" cy="347472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194560"/>
            <a:ext cx="1554480" cy="36576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1. LEARNER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 Semibold"/>
              </a:defRPr>
            </a:pPr>
            <a:r>
              <a:t>Personal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74720"/>
            <a:ext cx="1554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Calibrated sensory &amp; developmental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2011680"/>
            <a:ext cx="1828800" cy="347472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08960" y="2194560"/>
            <a:ext cx="1554480" cy="36576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224028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2. AI COMPANION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7432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 Semibold"/>
              </a:defRPr>
            </a:pPr>
            <a:r>
              <a:t>Context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474720"/>
            <a:ext cx="1554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Empathetic, persona-aware conversational grounding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2011680"/>
            <a:ext cx="1828800" cy="347472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49240" y="2194560"/>
            <a:ext cx="1554480" cy="36576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224028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3. ADAPTIVE 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7432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 Semibold"/>
              </a:defRPr>
            </a:pPr>
            <a:r>
              <a:t>Micro-Modules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3474720"/>
            <a:ext cx="1554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Dynamic pacing matching cognitive capacity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2011680"/>
            <a:ext cx="1828800" cy="347472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89520" y="2194560"/>
            <a:ext cx="1554480" cy="36576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224028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A855F7"/>
                </a:solidFill>
              </a:defRPr>
            </a:pPr>
            <a:r>
              <a:t>4. PRACTICE SCENARIOS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7432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 Semibold"/>
              </a:defRPr>
            </a:pPr>
            <a:r>
              <a:t>Realistic Roleplay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474720"/>
            <a:ext cx="1554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Workplace, peer &amp; everyday voice/text dialogues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2011680"/>
            <a:ext cx="1828800" cy="347472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829800" y="2194560"/>
            <a:ext cx="1554480" cy="36576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9800" y="224028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5. GROWTH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27432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 Semibold"/>
              </a:defRPr>
            </a:pPr>
            <a:r>
              <a:t>Real Progress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3474720"/>
            <a:ext cx="1554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Contiguous streak &amp; parent observation reports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623560"/>
            <a:ext cx="10728655" cy="64008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7150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6B6D4"/>
                </a:solidFill>
                <a:latin typeface="Segoe UI Semibold"/>
              </a:defRPr>
            </a:pPr>
            <a:r>
              <a:t>CORE MISSION: Transforming passive screen consumption into active, self-paced, judgment-free communication mastery.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HumSaathi AI  |  Adaptive Communication &amp; Learning Platform  |  Slide 03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LIFESPAN ADAPTABILITY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 Semibold"/>
              </a:defRPr>
            </a:pPr>
            <a:r>
              <a:t>One Platform. Three Experiences.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Neurodiversity doesn't stop at childhood. HumSaathi AI provides three deeply differentiated, age-tailored environments.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29000" cy="429768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2194560"/>
            <a:ext cx="2971800" cy="50292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CHILD PORTAL · Ages 4 to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80360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AFC"/>
                </a:solidFill>
                <a:latin typeface="Segoe UI Semibold"/>
              </a:defRPr>
            </a:pPr>
            <a:r>
              <a:t>Learn &amp; Explore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29000"/>
            <a:ext cx="2971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•  Low sensory load &amp; high predictable visual structure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•  Foundational exploration: Letters, Numbers, Shapes &amp; Colors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•  Emotions &amp; daily routine identification with gentle audio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•  Encouraging, gamified positive reinforcement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920240"/>
            <a:ext cx="3429000" cy="429768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08576" y="2194560"/>
            <a:ext cx="2971800" cy="50292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224028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TEEN PORTAL · Ages 12 to 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880360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AFC"/>
                </a:solidFill>
                <a:latin typeface="Segoe UI Semibold"/>
              </a:defRPr>
            </a:pPr>
            <a:r>
              <a:t>Practice &amp; Communicate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429000"/>
            <a:ext cx="2971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•  Peer communication, social dynamics &amp; empathy building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•  Daily Communication Challenges (Saying 'I need help', opinions)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•  Context clues, reading passages &amp; social dispute resolution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•  Real streak tracking with zero fake statistics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1920240"/>
            <a:ext cx="3429000" cy="429768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57032" y="2194560"/>
            <a:ext cx="2971800" cy="50292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224028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ADULT PORTAL · Ages 18 and Above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2880360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AFC"/>
                </a:solidFill>
                <a:latin typeface="Segoe UI Semibold"/>
              </a:defRPr>
            </a:pPr>
            <a:r>
              <a:t>Apply &amp; Grow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2" y="3429000"/>
            <a:ext cx="2971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•  Workplace readiness: Job interviews &amp; manager discussions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•  Workplace Goal Engine: 'Complete 2 workplace scenarios'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•  Everyday life autonomy: Doctor visits, banking, dining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•  Practical problem solving: Transit delays &amp; confusing emails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HumSaathi AI  |  Adaptive Communication &amp; Learning Platform  |  Slide 04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EARLY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 Semibold"/>
              </a:defRPr>
            </a:pPr>
            <a:r>
              <a:t>Child Portal: Learn Through Exploration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Designed with occupational therapists in mind: low sensory load, clear contrast, and predictable routines.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4114800" cy="429768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2E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3566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CORE PILLARS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Segoe UI Semibold"/>
              </a:defRPr>
            </a:pPr>
            <a:r>
              <a:t>Simple &amp; Visual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High-contrast vector assets without sensory-overloading flashes or sudden sounds.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Segoe UI Semibold"/>
              </a:defRPr>
            </a:pPr>
            <a:r>
              <a:t>Predictable Flow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Consistent three-step activity sequences: Introduce, Practice, Celebrate.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Segoe UI Semibold"/>
              </a:defRPr>
            </a:pPr>
            <a:r>
              <a:t>Bilingual Native Audio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Voice prompts available in English and Urdu to support home language immersion.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Segoe UI Semibold"/>
              </a:defRPr>
            </a:pPr>
            <a:r>
              <a:t>Zero Pressure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No countdown timers or punishing fail states. Unlimited gentle retries.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920240"/>
            <a:ext cx="3017520" cy="1261872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2E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205740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Segoe UI Semibold"/>
              </a:defRPr>
            </a:pPr>
            <a:r>
              <a:t>🔤 Letters &amp; Phonics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English &amp; Urdu alphabet tracing with audio pronunciation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920240"/>
            <a:ext cx="3017520" cy="1261872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2E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05740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Segoe UI Semibold"/>
              </a:defRPr>
            </a:pPr>
            <a:r>
              <a:t>🔢 Numbers &amp; Counting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Predictable counting sequences with visual object arrays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3310128"/>
            <a:ext cx="3017520" cy="1261872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2E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3447288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Segoe UI Semibold"/>
              </a:defRPr>
            </a:pPr>
            <a:r>
              <a:t>🎨 Colors &amp; Shapes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Geometric recognition and real-world color association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3310128"/>
            <a:ext cx="3017520" cy="1261872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2E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3447288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Segoe UI Semibold"/>
              </a:defRPr>
            </a:pPr>
            <a:r>
              <a:t>🐾 Animals &amp; Nature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Interactive sounds, visual flashcards, and animal names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4700016"/>
            <a:ext cx="3017520" cy="1261872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2E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4837176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Segoe UI Semibold"/>
              </a:defRPr>
            </a:pPr>
            <a:r>
              <a:t>😊 Emotion Identification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Facial expression reading with calm social context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4700016"/>
            <a:ext cx="3017520" cy="1261872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2E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4837176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Segoe UI Semibold"/>
              </a:defRPr>
            </a:pPr>
            <a:r>
              <a:t>⏰ Daily Routines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Step-by-step visual schedules (Brushing, Eating, Bedtime)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HumSaathi AI  |  Adaptive Communication &amp; Learning Platform  |  Slide 05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MATURITY PROGRESSION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 Semibold"/>
              </a:defRPr>
            </a:pPr>
            <a:r>
              <a:t>Teen + Adult: Age-Appropriate Real-World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Moving beyond classroom exercises to real-world autonomy, professional conversations, and social mastery.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29768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148840"/>
            <a:ext cx="2011680" cy="41148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🧑 TEEN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250" b="1">
                <a:solidFill>
                  <a:srgbClr val="F8FAFC"/>
                </a:solidFill>
                <a:latin typeface="Segoe UI Semibold"/>
              </a:defRPr>
            </a:pPr>
            <a:r>
              <a:t>🎯  Teen Daily Communication Challenge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Rotating daily micro-tasks: Ask an open-ended question, Express an opinion politely, or Practice saying 'I need help'.</a:t>
            </a:r>
          </a:p>
          <a:p>
            <a:pPr>
              <a:spcBef>
                <a:spcPts val="400"/>
              </a:spcBef>
              <a:defRPr sz="1250" b="1">
                <a:solidFill>
                  <a:srgbClr val="F8FAFC"/>
                </a:solidFill>
                <a:latin typeface="Segoe UI Semibold"/>
              </a:defRPr>
            </a:pPr>
            <a:r>
              <a:t>🎯  Peer Conflict &amp; Group Projects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Interactive roleplay handling disagreements, shared project credit, and making new friends in clubs.</a:t>
            </a:r>
          </a:p>
          <a:p>
            <a:pPr>
              <a:spcBef>
                <a:spcPts val="400"/>
              </a:spcBef>
              <a:defRPr sz="1250" b="1">
                <a:solidFill>
                  <a:srgbClr val="F8FAFC"/>
                </a:solidFill>
                <a:latin typeface="Segoe UI Semibold"/>
              </a:defRPr>
            </a:pPr>
            <a:r>
              <a:t>🎯  Context Clues &amp; Reading Passages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Nuance comprehension: detecting implied meaning and conversational subtleties.</a:t>
            </a:r>
          </a:p>
          <a:p>
            <a:pPr>
              <a:spcBef>
                <a:spcPts val="400"/>
              </a:spcBef>
              <a:defRPr sz="1250" b="1">
                <a:solidFill>
                  <a:srgbClr val="F8FAFC"/>
                </a:solidFill>
                <a:latin typeface="Segoe UI Semibold"/>
              </a:defRPr>
            </a:pPr>
            <a:r>
              <a:t>🎯  Authentic Contiguous Streaks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Real-time streak counting directly connected to database activity history with zero fake stats.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2148840"/>
            <a:ext cx="2011680" cy="41148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👨 ADULT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74320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250" b="1">
                <a:solidFill>
                  <a:srgbClr val="F8FAFC"/>
                </a:solidFill>
                <a:latin typeface="Segoe UI Semibold"/>
              </a:defRPr>
            </a:pPr>
            <a:r>
              <a:t>💼  Workplace Career Scenarios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Simulated job interviews, supervisor check-ins, asking for task clarification, and proposing shift swaps.</a:t>
            </a:r>
          </a:p>
          <a:p>
            <a:pPr>
              <a:spcBef>
                <a:spcPts val="400"/>
              </a:spcBef>
              <a:defRPr sz="1250" b="1">
                <a:solidFill>
                  <a:srgbClr val="F8FAFC"/>
                </a:solidFill>
                <a:latin typeface="Segoe UI Semibold"/>
              </a:defRPr>
            </a:pPr>
            <a:r>
              <a:t>💼  Workplace Goals Progress Meter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Real-time tracking: 'Complete 2 workplace scenarios' with dynamic skill leveling.</a:t>
            </a:r>
          </a:p>
          <a:p>
            <a:pPr>
              <a:spcBef>
                <a:spcPts val="400"/>
              </a:spcBef>
              <a:defRPr sz="1250" b="1">
                <a:solidFill>
                  <a:srgbClr val="F8FAFC"/>
                </a:solidFill>
                <a:latin typeface="Segoe UI Semibold"/>
              </a:defRPr>
            </a:pPr>
            <a:r>
              <a:t>💼  Everyday Autonomy Scenarios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High-stress daily situations: Bank debit card inquiries, doctor appointments, and restaurant dining.</a:t>
            </a:r>
          </a:p>
          <a:p>
            <a:pPr>
              <a:spcBef>
                <a:spcPts val="400"/>
              </a:spcBef>
              <a:defRPr sz="1250" b="1">
                <a:solidFill>
                  <a:srgbClr val="F8FAFC"/>
                </a:solidFill>
                <a:latin typeface="Segoe UI Semibold"/>
              </a:defRPr>
            </a:pPr>
            <a:r>
              <a:t>💼  Practical Problem Solving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Contingency management: 'Your bus was cancelled' and 'You received an ambiguous workplace email'.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HumSaathi AI  |  Adaptive Communication &amp; Learning Platform  |  Slide 06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CONVERSATION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 Semibold"/>
              </a:defRPr>
            </a:pPr>
            <a:r>
              <a:t>AI That Doesn't Just Answer — It Practices With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HumSaathi AI engages in realistic turn-by-turn roleplay, evaluating communication and offering immediate coaching.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486400" cy="429768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2E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103120"/>
            <a:ext cx="5120640" cy="50292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2E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 Semibold"/>
              </a:defRPr>
            </a:pPr>
            <a:r>
              <a:t>🎯 Scenario: Job Interview Practice  |  Role: Hiring Manager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697480"/>
            <a:ext cx="3474720" cy="59436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2E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7706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6B6D4"/>
                </a:solidFill>
              </a:defRPr>
            </a:pPr>
            <a:r>
              <a:t>AI COACH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Welcome! Tell me about a time you handled a difficult deadline.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3383280"/>
            <a:ext cx="3474720" cy="594360"/>
          </a:xfrm>
          <a:prstGeom prst="roundRect">
            <a:avLst/>
          </a:prstGeom>
          <a:solidFill>
            <a:srgbClr val="10B981"/>
          </a:solidFill>
          <a:ln w="15240">
            <a:solidFill>
              <a:srgbClr val="2E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34564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1FAE5"/>
                </a:solidFill>
              </a:defRPr>
            </a:pPr>
            <a:r>
              <a:t>USER (LEARNER)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I was nervous, but I asked my lead for priority guidance.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4069080"/>
            <a:ext cx="3474720" cy="59436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2E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1422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6B6D4"/>
                </a:solidFill>
              </a:defRPr>
            </a:pPr>
            <a:r>
              <a:t>AI COACH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That shows initiative! How did you update your team after that?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920240"/>
            <a:ext cx="4937760" cy="429768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10312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STRUCTURED EVALUATION REPORT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2560320"/>
            <a:ext cx="4389120" cy="50292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2E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265176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 Semibold"/>
              </a:defRPr>
            </a:pPr>
            <a:r>
              <a:t>Clarity Score:  85%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3154680"/>
            <a:ext cx="4389120" cy="50292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2E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324612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Segoe UI Semibold"/>
              </a:defRPr>
            </a:pPr>
            <a:r>
              <a:t>Relevance Score:  90%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0" y="3749039"/>
            <a:ext cx="4389120" cy="50292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2E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3840479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366F1"/>
                </a:solidFill>
                <a:latin typeface="Segoe UI Semibold"/>
              </a:defRPr>
            </a:pPr>
            <a:r>
              <a:t>Confidence Score:  80%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4434840"/>
            <a:ext cx="4389120" cy="160020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4526280"/>
            <a:ext cx="4114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💡 SUGGESTED ALTERNATIVE RESPONSE</a:t>
            </a:r>
          </a:p>
          <a:p>
            <a:pPr>
              <a:spcBef>
                <a:spcPts val="400"/>
              </a:spcBef>
              <a:defRPr sz="1050" i="1">
                <a:solidFill>
                  <a:srgbClr val="F8FAFC"/>
                </a:solidFill>
                <a:latin typeface="Segoe UI"/>
              </a:defRPr>
            </a:pPr>
            <a:r>
              <a:t>"When deadlines tightened, I immediately consulted my lead to prioritize high-impact deliverables, keeping everyone synchronized."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HumSaathi AI  |  Adaptive Communication &amp; Learning Platform  |  Slide 07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DEEP-DIVE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 Semibold"/>
              </a:defRPr>
            </a:pPr>
            <a:r>
              <a:t>Production AI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A multi-tier architecture combining referent anchor tracking, persona grounding, and structured evaluation.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691640" cy="365760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1508760" cy="32004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76272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1. CLIENT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 Semibold"/>
              </a:defRPr>
            </a:pPr>
            <a:r>
              <a:t>React 18 + Vite SPA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1508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Web Speech API audio stream, trilingual I18n UI, sensory mode toggle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42032" y="2011680"/>
            <a:ext cx="1691640" cy="365760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33472" y="2148840"/>
            <a:ext cx="1508760" cy="32004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2176272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2. GATEWAY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256032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 Semibold"/>
              </a:defRPr>
            </a:pPr>
            <a:r>
              <a:t>FastAPI Python 3.11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3472" y="3154680"/>
            <a:ext cx="1508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ASGI serverless execution, JWT token validation, rate-limiting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2544" y="2011680"/>
            <a:ext cx="1691640" cy="365760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43984" y="2148840"/>
            <a:ext cx="1508760" cy="32004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3984" y="2176272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6366F1"/>
                </a:solidFill>
              </a:defRPr>
            </a:pPr>
            <a:r>
              <a:t>3. CONTEXT &amp; PERSONA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256032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 Semibold"/>
              </a:defRPr>
            </a:pPr>
            <a:r>
              <a:t>Grounding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984" y="3154680"/>
            <a:ext cx="1508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Referent anchor tracking, intent classification, multi-turn history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2011680"/>
            <a:ext cx="1691640" cy="365760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54496" y="2148840"/>
            <a:ext cx="1508760" cy="32004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4496" y="2176272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A855F7"/>
                </a:solidFill>
              </a:defRPr>
            </a:pPr>
            <a:r>
              <a:t>4. LLM &amp; FALLBACK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6" y="256032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 Semibold"/>
              </a:defRPr>
            </a:pPr>
            <a:r>
              <a:t>Gemini 2.0 / OpenAI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3154680"/>
            <a:ext cx="1508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Temperature-calibrated persona prompting with deterministic rule fallback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73568" y="2011680"/>
            <a:ext cx="1691640" cy="365760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65008" y="2148840"/>
            <a:ext cx="1508760" cy="32004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65008" y="2176272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59E0B"/>
                </a:solidFill>
              </a:defRPr>
            </a:pPr>
            <a:r>
              <a:t>5. 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08" y="256032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 Semibold"/>
              </a:defRPr>
            </a:pPr>
            <a:r>
              <a:t>Scoring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8" y="3154680"/>
            <a:ext cx="1508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Clarity, relevance, confidence metrics &amp; alternative phrasing generation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84080" y="2011680"/>
            <a:ext cx="1691640" cy="365760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875520" y="2148840"/>
            <a:ext cx="1508760" cy="32004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0" y="2176272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6. PERSISTENCE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56032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 Semibold"/>
              </a:defRPr>
            </a:pPr>
            <a:r>
              <a:t>Database &amp; 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3154680"/>
            <a:ext cx="1508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Persona-isolated progress, contiguous streaks, weekly parent insights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806440"/>
            <a:ext cx="10728655" cy="50292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2E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870448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⚡ PRODUCTION RESILIENCE: If external AI APIs experience latency or outages, our rule-based policy engine ensures 100% uninterrupted offline coaching.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HumSaathi AI  |  Adaptive Communication &amp; Learning Platform  |  Slide 08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CONTINUOUS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 Semibold"/>
              </a:defRPr>
            </a:pPr>
            <a:r>
              <a:t>Adaptive Learning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Every interaction makes the next one smarter. HumSaathi AI continuously calibrates challenge and support.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29000" cy="201168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103120"/>
            <a:ext cx="3063240" cy="36576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39696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 Semibold"/>
              </a:defRPr>
            </a:pPr>
            <a:r>
              <a:t>1. ASSESS  ·  Baseline Diagnostics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Learner completes lightweight baseline evaluation to identify strengths &amp; sensory preferences.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920240"/>
            <a:ext cx="3429000" cy="201168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62856" y="2103120"/>
            <a:ext cx="3063240" cy="36576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2139696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 Semibold"/>
              </a:defRPr>
            </a:pPr>
            <a:r>
              <a:t>2. PRACTICE  ·  Interactive Execution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56032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Learner engages in voice/text communication scenarios and structured skill modules.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1920240"/>
            <a:ext cx="3429000" cy="201168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11312" y="2103120"/>
            <a:ext cx="3063240" cy="36576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2139696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Segoe UI Semibold"/>
              </a:defRPr>
            </a:pPr>
            <a:r>
              <a:t>3. OBSERVE  ·  Behavioral Signals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56032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System observes response latency, sentence complexity, and vocabulary retention in real 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14800"/>
            <a:ext cx="3429000" cy="201168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4297680"/>
            <a:ext cx="3063240" cy="36576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34256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855F7"/>
                </a:solidFill>
                <a:latin typeface="Segoe UI Semibold"/>
              </a:defRPr>
            </a:pPr>
            <a:r>
              <a:t>4. EVALUATE  ·  Tri-Metric Scoring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5488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Multi-dimensional scoring computes Clarity, Relevance, and Confidence scores instantly.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9976" y="4114800"/>
            <a:ext cx="3429000" cy="201168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62856" y="4297680"/>
            <a:ext cx="3063240" cy="36576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2856" y="4334256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ADAPT  ·  Cognitive Adjustment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475488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Engine recalibrates scenario difficulty, sensory stimulation levels, and pacing thresholds.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8432" y="4114800"/>
            <a:ext cx="3429000" cy="201168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11312" y="4297680"/>
            <a:ext cx="3063240" cy="365760"/>
          </a:xfrm>
          <a:prstGeom prst="roundRect">
            <a:avLst/>
          </a:prstGeom>
          <a:solidFill>
            <a:srgbClr val="1C2A4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11312" y="4334256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 Semibold"/>
              </a:defRPr>
            </a:pPr>
            <a:r>
              <a:t>6. RECOMMEND  ·  Next Best Practice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475488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Generates the 'Next Best Practice' card directly on the learner's dashboard.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HumSaathi AI  |  Adaptive Communication &amp; Learning Platform  |  Slide 09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INCLUSIVE INTERFACES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 Semibold"/>
              </a:defRPr>
            </a:pPr>
            <a:r>
              <a:t>Multimodal Communication: Text + Voice +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Supporting continuous voice interaction, speech recognition, and native trilingual localization.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6217920" cy="429768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2E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5669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MULTIMODAL INTERACTION PIPELINE</a:t>
            </a:r>
          </a:p>
          <a:p>
            <a:pPr>
              <a:spcBef>
                <a:spcPts val="600"/>
              </a:spcBef>
              <a:defRPr sz="1300" b="1">
                <a:solidFill>
                  <a:srgbClr val="F8FAFC"/>
                </a:solidFill>
                <a:latin typeface="Segoe UI Semibold"/>
              </a:defRPr>
            </a:pPr>
            <a:r>
              <a:t>🎙️ Voice &amp; Speech Recognition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Web Speech API captures spoken audio, providing accessible real-world phone call simulation.</a:t>
            </a:r>
          </a:p>
          <a:p>
            <a:pPr>
              <a:spcBef>
                <a:spcPts val="600"/>
              </a:spcBef>
              <a:defRPr sz="1300" b="1">
                <a:solidFill>
                  <a:srgbClr val="F8FAFC"/>
                </a:solidFill>
                <a:latin typeface="Segoe UI Semibold"/>
              </a:defRPr>
            </a:pPr>
            <a:r>
              <a:t>💬 Real-Time Text Input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Comfortable, low-anxiety text interface for learners who prefer typing or AAC assistive tools.</a:t>
            </a:r>
          </a:p>
          <a:p>
            <a:pPr>
              <a:spcBef>
                <a:spcPts val="600"/>
              </a:spcBef>
              <a:defRPr sz="1300" b="1">
                <a:solidFill>
                  <a:srgbClr val="F8FAFC"/>
                </a:solidFill>
                <a:latin typeface="Segoe UI Semibold"/>
              </a:defRPr>
            </a:pPr>
            <a:r>
              <a:t>🧠 Trilingual AI Understanding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Context engine auto-detects and processes linguistic nuances across 3 languages.</a:t>
            </a:r>
          </a:p>
          <a:p>
            <a:pPr>
              <a:spcBef>
                <a:spcPts val="600"/>
              </a:spcBef>
              <a:defRPr sz="1300" b="1">
                <a:solidFill>
                  <a:srgbClr val="F8FAFC"/>
                </a:solidFill>
                <a:latin typeface="Segoe UI Semibold"/>
              </a:defRPr>
            </a:pPr>
            <a:r>
              <a:t>🔊 Articulate Speech Synthesis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Calm, natural text-to-speech output delivering empathetic conversational pacing.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920240"/>
            <a:ext cx="4206240" cy="132588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2057400"/>
            <a:ext cx="3840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 Semibold"/>
              </a:defRPr>
            </a:pPr>
            <a:r>
              <a:t>ENGLISH  [en]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Standard international phrasing and professional workplace terminology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3364992"/>
            <a:ext cx="4206240" cy="132588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3502152"/>
            <a:ext cx="3840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 Semibold"/>
              </a:defRPr>
            </a:pPr>
            <a:r>
              <a:t>URDU (اردو)  [ur]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Full native Right-to-Left (RTL) typography with cultural phrasing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4809744"/>
            <a:ext cx="4206240" cy="132588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4946904"/>
            <a:ext cx="3840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Segoe UI Semibold"/>
              </a:defRPr>
            </a:pPr>
            <a:r>
              <a:t>ROMAN URDU  [ur_rm]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Phonetic conversational vernacular widely used across South Asia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HumSaathi AI  |  Adaptive Communication &amp; Learning Platform  |  Slide 10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FAMILY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 Semibold"/>
              </a:defRPr>
            </a:pPr>
            <a:r>
              <a:t>Parent Companion: Understand Progress — Not Control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A privacy-first portal giving caregivers actionable visibility into communication growth without invasive micromanagement.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542032" cy="237744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226771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 Semibold"/>
              </a:defRPr>
            </a:pPr>
            <a:r>
              <a:t>👋 GREETING</a:t>
            </a:r>
          </a:p>
          <a:p>
            <a:pPr>
              <a:spcBef>
                <a:spcPts val="2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Social Warmth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Measures ability to initiate and acknowledge conversational openings gracefully.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920240"/>
            <a:ext cx="2542032" cy="237744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2057400"/>
            <a:ext cx="226771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 Semibold"/>
              </a:defRPr>
            </a:pPr>
            <a:r>
              <a:t>💬 ANSWERING QUESTIONS</a:t>
            </a:r>
          </a:p>
          <a:p>
            <a:pPr>
              <a:spcBef>
                <a:spcPts val="2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Response Accuracy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Evaluates clarity, directness, and relevance when asked for information.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920240"/>
            <a:ext cx="2542032" cy="237744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2057400"/>
            <a:ext cx="226771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Segoe UI Semibold"/>
              </a:defRPr>
            </a:pPr>
            <a:r>
              <a:t>❓ ASKING QUESTIONS</a:t>
            </a:r>
          </a:p>
          <a:p>
            <a:pPr>
              <a:spcBef>
                <a:spcPts val="2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Curiosity &amp; Engagement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Tracks proactive inquiry, requesting clarification, and conversational balance.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920240"/>
            <a:ext cx="2542032" cy="237744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2057400"/>
            <a:ext cx="226771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  <a:latin typeface="Segoe UI Semibold"/>
              </a:defRPr>
            </a:pPr>
            <a:r>
              <a:t>🌟 CONFIDENCE</a:t>
            </a:r>
          </a:p>
          <a:p>
            <a:pPr>
              <a:spcBef>
                <a:spcPts val="2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Emotional Stability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Measures smooth conversational pacing, reduced hesitation, and natural flow.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80560"/>
            <a:ext cx="6217920" cy="173736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2E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5852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6B6D4"/>
                </a:solidFill>
                <a:latin typeface="Segoe UI"/>
              </a:defRPr>
            </a:pPr>
            <a:r>
              <a:t>📊 AI WEEKLY OBSERVATION DIGEST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Highlights verified developmental wins: 'Demonstrated 25% faster clarification turnaround.'</a:t>
            </a:r>
            <a:br/>
            <a:r>
              <a:t>• Suggests real-world family activities: 'Ask Zayd to order at dinner tonight to reinforce practice.'</a:t>
            </a:r>
            <a:br/>
            <a:r>
              <a:t>• Never displays raw transcripts, preserving learner dignity and autonomy.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4480560"/>
            <a:ext cx="4206240" cy="173736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2E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4572000"/>
            <a:ext cx="3840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🔒 CAREGIVER PRIVACY &amp; ACCESS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Protected by a localized 4-Digit Parent PIN gate.</a:t>
            </a:r>
            <a:br/>
            <a:r>
              <a:t>• Complete persona data isolation prevents cross-profile leaks.</a:t>
            </a:r>
            <a:br/>
            <a:r>
              <a:t>• Meets international standards for child privacy and accessibility.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HumSaathi AI  |  Adaptive Communication &amp; Learning Platform  |  Slide 11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PRODUCTION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 Semibold"/>
              </a:defRPr>
            </a:pPr>
            <a:r>
              <a:t>Full-Stack AI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Built on a modern, decoupled architecture designed for high throughput, serverless efficiency, and rapid scale.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29000" cy="201168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2E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84832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FRONTEND</a:t>
            </a:r>
          </a:p>
          <a:p>
            <a:pPr>
              <a:spcBef>
                <a:spcPts val="200"/>
              </a:spcBef>
              <a:defRPr sz="1400" b="1">
                <a:solidFill>
                  <a:srgbClr val="F8FAFC"/>
                </a:solidFill>
                <a:latin typeface="Segoe UI Semibold"/>
              </a:defRPr>
            </a:pPr>
            <a:r>
              <a:t>React 18 &amp; Vite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SPA architecture, React Router v7, zero heavy UI frameworks, native CSS variables, responsive accessible layout.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920240"/>
            <a:ext cx="3429000" cy="201168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2E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2084832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BACKEND API</a:t>
            </a:r>
          </a:p>
          <a:p>
            <a:pPr>
              <a:spcBef>
                <a:spcPts val="200"/>
              </a:spcBef>
              <a:defRPr sz="1400" b="1">
                <a:solidFill>
                  <a:srgbClr val="F8FAFC"/>
                </a:solidFill>
                <a:latin typeface="Segoe UI Semibold"/>
              </a:defRPr>
            </a:pPr>
            <a:r>
              <a:t>FastAPI &amp; Python 3.11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Asynchronous ASGI serverless endpoints, Pydantic v2 data validation, Uvicorn high-concurrency runtime.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1920240"/>
            <a:ext cx="3429000" cy="201168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2E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2084832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A855F7"/>
                </a:solidFill>
                <a:latin typeface="Segoe UI"/>
              </a:defRPr>
            </a:pPr>
            <a:r>
              <a:t>AI BRAIN</a:t>
            </a:r>
          </a:p>
          <a:p>
            <a:pPr>
              <a:spcBef>
                <a:spcPts val="200"/>
              </a:spcBef>
              <a:defRPr sz="1400" b="1">
                <a:solidFill>
                  <a:srgbClr val="F8FAFC"/>
                </a:solidFill>
                <a:latin typeface="Segoe UI Semibold"/>
              </a:defRPr>
            </a:pPr>
            <a:r>
              <a:t>Gemini 2.0 &amp; OpenAI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Dynamic prompt chaining, intent classification, persona policy enforcement, and deterministic rule fallbacks.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3429000" cy="201168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2E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79392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Segoe UI"/>
              </a:defRPr>
            </a:pPr>
            <a:r>
              <a:t>PERSISTENCE</a:t>
            </a:r>
          </a:p>
          <a:p>
            <a:pPr>
              <a:spcBef>
                <a:spcPts val="200"/>
              </a:spcBef>
              <a:defRPr sz="1400" b="1">
                <a:solidFill>
                  <a:srgbClr val="F8FAFC"/>
                </a:solidFill>
                <a:latin typeface="Segoe UI Semibold"/>
              </a:defRPr>
            </a:pPr>
            <a:r>
              <a:t>SQLAlchemy &amp; SQLite/Postgres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Robust relational schema supporting session logs, multidimensional evaluations, and real-time streak computation.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4114800"/>
            <a:ext cx="3429000" cy="201168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2E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4279392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Segoe UI"/>
              </a:defRPr>
            </a:pPr>
            <a:r>
              <a:t>SPEECH ENGINE</a:t>
            </a:r>
          </a:p>
          <a:p>
            <a:pPr>
              <a:spcBef>
                <a:spcPts val="200"/>
              </a:spcBef>
              <a:defRPr sz="1400" b="1">
                <a:solidFill>
                  <a:srgbClr val="F8FAFC"/>
                </a:solidFill>
                <a:latin typeface="Segoe UI Semibold"/>
              </a:defRPr>
            </a:pPr>
            <a:r>
              <a:t>Web Speech API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Continuous client-side speech recognition and synthesis with zero external third-party speech vendor latency.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4114800"/>
            <a:ext cx="3429000" cy="201168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2E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4279392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INFRASTRUCTURE</a:t>
            </a:r>
          </a:p>
          <a:p>
            <a:pPr>
              <a:spcBef>
                <a:spcPts val="200"/>
              </a:spcBef>
              <a:defRPr sz="1400" b="1">
                <a:solidFill>
                  <a:srgbClr val="F8FAFC"/>
                </a:solidFill>
                <a:latin typeface="Segoe UI Semibold"/>
              </a:defRPr>
            </a:pPr>
            <a:r>
              <a:t>Vercel Serverless &amp; CDN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Continuous Git integration, serverless function rewrites via vercel.json, 100% production uptime.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HumSaathi AI  |  Adaptive Communication &amp; Learning Platform  |  Slide 12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DATA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 Semibold"/>
              </a:defRPr>
            </a:pPr>
            <a:r>
              <a:t>Designed With Privacy in Mind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Neurodiverse learners deserve the highest standard of data protection, role isolation, and ethical AI safety.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542032" cy="429768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1762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🔐 SECURE AUTHENTICATION</a:t>
            </a:r>
          </a:p>
          <a:p>
            <a:pPr>
              <a:spcBef>
                <a:spcPts val="400"/>
              </a:spcBef>
              <a:defRPr sz="1500" b="1">
                <a:solidFill>
                  <a:srgbClr val="F8FAFC"/>
                </a:solidFill>
                <a:latin typeface="Segoe UI Semibold"/>
              </a:defRPr>
            </a:pPr>
            <a:r>
              <a:t>Dual Authentication Flow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Robust JWT token-based authentication paired with Google OAuth 2.0 Identity Services for secure, passwordless login.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920240"/>
            <a:ext cx="2542032" cy="429768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2148840"/>
            <a:ext cx="21762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🛡️ PERSONA DATA ISOLATION</a:t>
            </a:r>
          </a:p>
          <a:p>
            <a:pPr>
              <a:spcBef>
                <a:spcPts val="400"/>
              </a:spcBef>
              <a:defRPr sz="1500" b="1">
                <a:solidFill>
                  <a:srgbClr val="F8FAFC"/>
                </a:solidFill>
                <a:latin typeface="Segoe UI Semibold"/>
              </a:defRPr>
            </a:pPr>
            <a:r>
              <a:t>Zero Cross-Contamination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Strict backend database filtering guarantees that teen or adult scenarios and progress metrics never leak into child accounts.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920240"/>
            <a:ext cx="2542032" cy="429768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2148840"/>
            <a:ext cx="21762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Segoe UI"/>
              </a:defRPr>
            </a:pPr>
            <a:r>
              <a:t>🔑 CAREGIVER PIN GATE</a:t>
            </a:r>
          </a:p>
          <a:p>
            <a:pPr>
              <a:spcBef>
                <a:spcPts val="400"/>
              </a:spcBef>
              <a:defRPr sz="1500" b="1">
                <a:solidFill>
                  <a:srgbClr val="F8FAFC"/>
                </a:solidFill>
                <a:latin typeface="Segoe UI Semibold"/>
              </a:defRPr>
            </a:pPr>
            <a:r>
              <a:t>Localized Security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Parent Portal access is gated behind a local encrypted 4-digit PIN, ensuring children cannot accidentally modify profiles.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920240"/>
            <a:ext cx="2542032" cy="429768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2148840"/>
            <a:ext cx="21762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Segoe UI"/>
              </a:defRPr>
            </a:pPr>
            <a:r>
              <a:t>👮 ADMIN ROLE CONTROL</a:t>
            </a:r>
          </a:p>
          <a:p>
            <a:pPr>
              <a:spcBef>
                <a:spcPts val="400"/>
              </a:spcBef>
              <a:defRPr sz="1500" b="1">
                <a:solidFill>
                  <a:srgbClr val="F8FAFC"/>
                </a:solidFill>
                <a:latin typeface="Segoe UI Semibold"/>
              </a:defRPr>
            </a:pPr>
            <a:r>
              <a:t>Comprehensive RBAC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Enterprise Role-Based Access Control allows verified administrators to monitor system health, audit logs, and AI behavior.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HumSaathi AI  |  Adaptive Communication &amp; Learning Platform  |  Slide 13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COMPETITIVE 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 Semibold"/>
              </a:defRPr>
            </a:pPr>
            <a:r>
              <a:t>Why HumSaathi AI? More Than an AI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How HumSaathi AI fundamentally differs from standard generative AI chatbots and traditional e-learning apps.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728655" cy="429768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2E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05840" y="2103120"/>
          <a:ext cx="1018001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840480"/>
                <a:gridCol w="3962095"/>
              </a:tblGrid>
              <a:tr h="56170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 Semibold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C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 Semibold"/>
                        </a:defRPr>
                      </a:pPr>
                      <a:r>
                        <a:t>GENERIC AI CHATBOTS (e.g. ChatGPT)</a:t>
                      </a:r>
                    </a:p>
                  </a:txBody>
                  <a:tcPr>
                    <a:solidFill>
                      <a:srgbClr val="1C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  <a:latin typeface="Segoe UI Semibold"/>
                        </a:defRPr>
                      </a:pPr>
                      <a:r>
                        <a:t>HUMSAATHI AI</a:t>
                      </a:r>
                    </a:p>
                  </a:txBody>
                  <a:tcPr>
                    <a:solidFill>
                      <a:srgbClr val="1C2A44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8FAFC"/>
                          </a:solidFill>
                        </a:defRPr>
                      </a:pPr>
                      <a:r>
                        <a:t>Learning Structure</a:t>
                      </a:r>
                    </a:p>
                  </a:txBody>
                  <a:tcPr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Unbounded, open-ended prompt box (high cognitive load)</a:t>
                      </a:r>
                    </a:p>
                  </a:txBody>
                  <a:tcPr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10B981"/>
                          </a:solidFill>
                        </a:defRPr>
                      </a:pPr>
                      <a:r>
                        <a:t>✓  27 goal-oriented, structured, scaffolded scenarios</a:t>
                      </a:r>
                    </a:p>
                  </a:txBody>
                  <a:tcPr>
                    <a:solidFill>
                      <a:srgbClr val="1C2A44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8FAFC"/>
                          </a:solidFill>
                        </a:defRPr>
                      </a:pPr>
                      <a:r>
                        <a:t>Lifespan Personalization</a:t>
                      </a:r>
                    </a:p>
                  </a:txBody>
                  <a:tcPr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Single generic tone for all queries</a:t>
                      </a:r>
                    </a:p>
                  </a:txBody>
                  <a:tcPr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10B981"/>
                          </a:solidFill>
                        </a:defRPr>
                      </a:pPr>
                      <a:r>
                        <a:t>✓  Differentiated Child, Teen, and Adult portal workflows</a:t>
                      </a:r>
                    </a:p>
                  </a:txBody>
                  <a:tcPr>
                    <a:solidFill>
                      <a:srgbClr val="1C2A44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8FAFC"/>
                          </a:solidFill>
                        </a:defRPr>
                      </a:pPr>
                      <a:r>
                        <a:t>Sensory Ergonomics</a:t>
                      </a:r>
                    </a:p>
                  </a:txBody>
                  <a:tcPr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Monochrome, text-heavy, distracting UI</a:t>
                      </a:r>
                    </a:p>
                  </a:txBody>
                  <a:tcPr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10B981"/>
                          </a:solidFill>
                        </a:defRPr>
                      </a:pPr>
                      <a:r>
                        <a:t>✓  Calm, low-sensory palette, high contrast, predictable flow</a:t>
                      </a:r>
                    </a:p>
                  </a:txBody>
                  <a:tcPr>
                    <a:solidFill>
                      <a:srgbClr val="1C2A44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8FAFC"/>
                          </a:solidFill>
                        </a:defRPr>
                      </a:pPr>
                      <a:r>
                        <a:t>Communication Evaluation</a:t>
                      </a:r>
                    </a:p>
                  </a:txBody>
                  <a:tcPr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Vague 'Good job' or generic text summaries</a:t>
                      </a:r>
                    </a:p>
                  </a:txBody>
                  <a:tcPr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10B981"/>
                          </a:solidFill>
                        </a:defRPr>
                      </a:pPr>
                      <a:r>
                        <a:t>✓  Objective metrics: Clarity, Relevance, and Confidence</a:t>
                      </a:r>
                    </a:p>
                  </a:txBody>
                  <a:tcPr>
                    <a:solidFill>
                      <a:srgbClr val="1C2A44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8FAFC"/>
                          </a:solidFill>
                        </a:defRPr>
                      </a:pPr>
                      <a:r>
                        <a:t>Actionable Feedback</a:t>
                      </a:r>
                    </a:p>
                  </a:txBody>
                  <a:tcPr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No explicit guidance on alternative phrasing</a:t>
                      </a:r>
                    </a:p>
                  </a:txBody>
                  <a:tcPr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10B981"/>
                          </a:solidFill>
                        </a:defRPr>
                      </a:pPr>
                      <a:r>
                        <a:t>✓  Offers direct 'Suggested Alternative Response' coaching</a:t>
                      </a:r>
                    </a:p>
                  </a:txBody>
                  <a:tcPr>
                    <a:solidFill>
                      <a:srgbClr val="1C2A44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8FAFC"/>
                          </a:solidFill>
                        </a:defRPr>
                      </a:pPr>
                      <a:r>
                        <a:t>Caregiver Visibility</a:t>
                      </a:r>
                    </a:p>
                  </a:txBody>
                  <a:tcPr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Zero oversight or family coaching integration</a:t>
                      </a:r>
                    </a:p>
                  </a:txBody>
                  <a:tcPr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10B981"/>
                          </a:solidFill>
                        </a:defRPr>
                      </a:pPr>
                      <a:r>
                        <a:t>✓  Privacy-first Parent Companion with weekly actionable tips</a:t>
                      </a:r>
                    </a:p>
                  </a:txBody>
                  <a:tcPr>
                    <a:solidFill>
                      <a:srgbClr val="1C2A4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HumSaathi AI  |  Adaptive Communication &amp; Learning Platform  |  Slide 14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THE FUTURE OF PERSONALIZED COMMUNICATION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2542032" cy="150876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2E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43000"/>
            <a:ext cx="226771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 Semibold"/>
              </a:defRPr>
            </a:pPr>
            <a:r>
              <a:t>📹 Multimodal Video &amp; Eye Contact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[Future Scope]  Computer vision facial sentiment &amp; non-verbal communication coaching.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051560"/>
            <a:ext cx="2542032" cy="150876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2E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93592" y="1143000"/>
            <a:ext cx="226771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 Semibold"/>
              </a:defRPr>
            </a:pPr>
            <a:r>
              <a:t>👩‍⚕️ Therapist &amp; Clinic Dashboard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[Future Scope]  Direct telehealth portal for speech pathologists and behavioral therapists.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051560"/>
            <a:ext cx="2542032" cy="150876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2E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504" y="1143000"/>
            <a:ext cx="226771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 Semibold"/>
              </a:defRPr>
            </a:pPr>
            <a:r>
              <a:t>📱 Native Mobile Application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[Future Scope]  Offline-first React Native mobile apps for iOS and Android devices.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051560"/>
            <a:ext cx="2542032" cy="150876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2E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43416" y="1143000"/>
            <a:ext cx="226771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 Semibold"/>
              </a:defRPr>
            </a:pPr>
            <a:r>
              <a:t>🌐 Global Vernacular Expansion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[Future Scope]  Arabic, Spanish, Bengali, and Hindi dialect adaptation modules.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2834640"/>
            <a:ext cx="9448495" cy="3383280"/>
          </a:xfrm>
          <a:prstGeom prst="roundRect">
            <a:avLst/>
          </a:prstGeom>
          <a:solidFill>
            <a:srgbClr val="1520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humsaathi-logo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3017520"/>
            <a:ext cx="1371600" cy="5357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28800" y="4389120"/>
            <a:ext cx="8534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6B6D4"/>
                </a:solidFill>
                <a:latin typeface="Segoe UI Semibold"/>
              </a:defRPr>
            </a:pPr>
            <a:r>
              <a:t>HumSaathi AI  ·  Learn. Communicate. Grow.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937760"/>
            <a:ext cx="85340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1">
                <a:solidFill>
                  <a:srgbClr val="F8FAFC"/>
                </a:solidFill>
                <a:latin typeface="Segoe UI"/>
              </a:defRPr>
            </a:pPr>
            <a:r>
              <a:t>“HumSaathi AI doesn't just teach users what to learn —</a:t>
            </a:r>
            <a:br/>
            <a:r>
              <a:t>it helps them learn how to communicate, practice, and grow.”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HumSaathi AI  |  Adaptive Communication &amp; Learning Platform  |  Slide 15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